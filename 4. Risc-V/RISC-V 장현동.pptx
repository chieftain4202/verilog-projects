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7" r:id="rId2"/>
    <p:sldId id="279" r:id="rId3"/>
    <p:sldId id="280" r:id="rId4"/>
    <p:sldId id="284" r:id="rId5"/>
    <p:sldId id="286" r:id="rId6"/>
    <p:sldId id="275" r:id="rId7"/>
    <p:sldId id="287" r:id="rId8"/>
    <p:sldId id="278" r:id="rId9"/>
    <p:sldId id="340" r:id="rId10"/>
    <p:sldId id="338" r:id="rId11"/>
    <p:sldId id="290" r:id="rId12"/>
    <p:sldId id="339" r:id="rId13"/>
    <p:sldId id="288" r:id="rId14"/>
    <p:sldId id="289" r:id="rId15"/>
    <p:sldId id="259" r:id="rId16"/>
    <p:sldId id="260" r:id="rId17"/>
    <p:sldId id="262" r:id="rId18"/>
    <p:sldId id="263" r:id="rId19"/>
    <p:sldId id="264" r:id="rId20"/>
    <p:sldId id="265" r:id="rId21"/>
    <p:sldId id="266" r:id="rId22"/>
    <p:sldId id="267" r:id="rId23"/>
    <p:sldId id="291" r:id="rId24"/>
    <p:sldId id="308" r:id="rId25"/>
    <p:sldId id="316" r:id="rId26"/>
    <p:sldId id="329" r:id="rId27"/>
    <p:sldId id="317" r:id="rId28"/>
    <p:sldId id="318" r:id="rId29"/>
    <p:sldId id="268" r:id="rId30"/>
    <p:sldId id="292" r:id="rId31"/>
    <p:sldId id="330" r:id="rId32"/>
    <p:sldId id="319" r:id="rId33"/>
    <p:sldId id="309" r:id="rId34"/>
    <p:sldId id="332" r:id="rId35"/>
    <p:sldId id="327" r:id="rId36"/>
    <p:sldId id="270" r:id="rId37"/>
    <p:sldId id="293" r:id="rId38"/>
    <p:sldId id="331" r:id="rId39"/>
    <p:sldId id="320" r:id="rId40"/>
    <p:sldId id="310" r:id="rId41"/>
    <p:sldId id="269" r:id="rId42"/>
    <p:sldId id="294" r:id="rId43"/>
    <p:sldId id="333" r:id="rId44"/>
    <p:sldId id="321" r:id="rId45"/>
    <p:sldId id="322" r:id="rId46"/>
    <p:sldId id="295" r:id="rId47"/>
    <p:sldId id="304" r:id="rId48"/>
    <p:sldId id="334" r:id="rId49"/>
    <p:sldId id="305" r:id="rId50"/>
    <p:sldId id="323" r:id="rId51"/>
    <p:sldId id="311" r:id="rId52"/>
    <p:sldId id="312" r:id="rId53"/>
    <p:sldId id="313" r:id="rId54"/>
    <p:sldId id="335" r:id="rId55"/>
    <p:sldId id="315" r:id="rId56"/>
    <p:sldId id="336" r:id="rId57"/>
    <p:sldId id="324" r:id="rId58"/>
    <p:sldId id="281" r:id="rId59"/>
    <p:sldId id="282" r:id="rId60"/>
    <p:sldId id="341" r:id="rId61"/>
    <p:sldId id="337" r:id="rId62"/>
    <p:sldId id="325" r:id="rId63"/>
    <p:sldId id="344" r:id="rId64"/>
    <p:sldId id="342" r:id="rId65"/>
    <p:sldId id="343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423C0B-24CF-4C3C-8A59-7768EA0501B5}" styleName="Normal Style 1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BBA2D1F-E88D-431A-877F-97C11ED6EE09}" styleName="Light Style 3 - Body/Background 3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dk1"/>
              </a:solidFill>
              <a:prstDash val="dash"/>
            </a:ln>
          </a:left>
          <a:right>
            <a:ln w="32700" cmpd="sng">
              <a:solidFill>
                <a:schemeClr val="dk1"/>
              </a:solidFill>
              <a:prstDash val="dash"/>
            </a:ln>
          </a:right>
          <a:top>
            <a:ln w="32700" cmpd="sng">
              <a:solidFill>
                <a:schemeClr val="dk1"/>
              </a:solidFill>
              <a:prstDash val="dash"/>
            </a:ln>
          </a:top>
          <a:bottom>
            <a:ln w="32700" cmpd="sng">
              <a:solidFill>
                <a:schemeClr val="dk1"/>
              </a:solidFill>
              <a:prstDash val="dash"/>
            </a:ln>
          </a:bottom>
          <a:insideH>
            <a:ln w="22700" cmpd="sng">
              <a:solidFill>
                <a:schemeClr val="dk1"/>
              </a:solidFill>
              <a:prstDash val="sysDot"/>
            </a:ln>
          </a:insideH>
          <a:insideV>
            <a:ln w="22700" cmpd="sng">
              <a:solidFill>
                <a:schemeClr val="dk1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A19AC023-856A-467E-8526-3A3E5D2CDECB}" styleName="Normal Style 2 - Accent 3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>
              <a:shade val="50000"/>
              <a:satMod val="230000"/>
            </a:schemeClr>
          </a:solidFill>
        </a:fill>
      </a:tcStyle>
    </a:firstRow>
  </a:tblStyle>
  <a:tblStyle styleId="{138F972D-3A02-497A-9D08-DF27CF173CB4}" styleName="Generic Style 1- Body/Background Dark Color 1">
    <a:tblBg>
      <a:fillRef idx="2">
        <a:schemeClr val="dk1"/>
      </a:fillRef>
      <a:effectRef idx="2">
        <a:schemeClr val="dk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dk1">
                  <a:shade val="61000"/>
                  <a:satMod val="130000"/>
                </a:schemeClr>
              </a:gs>
              <a:gs pos="5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76450435-6131-4BA9-BD02-603D08AFE7CB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3"/>
              </a:solidFill>
            </a:ln>
          </a:top>
          <a:bottom>
            <a:ln w="2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3"/>
              </a:solidFill>
            </a:ln>
          </a:top>
          <a:bottom>
            <a:ln w="10000" cmpd="sng">
              <a:solidFill>
                <a:schemeClr val="accent3"/>
              </a:solidFill>
            </a:ln>
          </a:bottom>
        </a:tcBdr>
        <a:fill>
          <a:solidFill>
            <a:schemeClr val="accent3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FB25835-44F2-4F93-A022-F0F85589D6E3}" styleName="Generic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7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accent3">
                  <a:shade val="61000"/>
                  <a:satMod val="130000"/>
                </a:schemeClr>
              </a:gs>
              <a:gs pos="5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52952B78-2EF1-4F5E-9478-49274144A490}" styleName="Generic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Ref idx="0">
              <a:schemeClr val="accent3"/>
            </a:lnRef>
          </a:insideH>
          <a:insideV>
            <a:lnRef idx="0">
              <a:schemeClr val="accent3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accent3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77BBAD0-2FD1-4BB3-BED5-B7D4590D3504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3"/>
      </a:tcTxStyle>
      <a:tcStyle>
        <a:tcBdr>
          <a:top>
            <a:ln w="6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3">
          <a:shade val="40000"/>
        </a:schemeClr>
      </a:tcTxStyle>
      <a:tcStyle>
        <a:tcBdr/>
        <a:fill>
          <a:solidFill>
            <a:schemeClr val="accent3">
              <a:alpha val="40000"/>
            </a:schemeClr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B97EFD9-3E4E-4774-82E3-5CA0719C0AE7}" styleName="Normal Style 3 - Accent 3">
    <a:wholeTbl>
      <a:tcTxStyle>
        <a:fontRef idx="minor">
          <a:scrgbClr r="0" g="0" b="0"/>
        </a:fontRef>
        <a:schemeClr val="accent3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>
        <a:fontRef idx="minor">
          <a:scrgbClr r="0" g="0" b="0"/>
        </a:fontRef>
        <a:schemeClr val="dk1"/>
      </a:tcTxStyle>
      <a:tcStyle>
        <a:tcBdr/>
        <a:fill>
          <a:solidFill>
            <a:schemeClr val="dk1">
              <a:lum val="8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5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scrgbClr r="0" g="0" b="0"/>
        </a:fontRef>
        <a:schemeClr val="accent3"/>
      </a:tcTxStyle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accent3"/>
      </a:tcTxStyle>
      <a:tcStyle>
        <a:tcBdr/>
      </a:tcStyle>
    </a:seCell>
    <a:swCell>
      <a:tcTxStyle b="on">
        <a:fontRef idx="minor">
          <a:scrgbClr r="0" g="0" b="0"/>
        </a:fontRef>
        <a:schemeClr val="accent3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500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4" y="88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9625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88279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71153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1105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18940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30275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3335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0989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52931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47484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</a:p>
          <a:p>
            <a:pPr lvl="0">
              <a:defRPr/>
            </a:pPr>
            <a:r>
              <a:rPr lang="ko-KR" altLang="en-US"/>
              <a:t>둘째 목차</a:t>
            </a:r>
          </a:p>
          <a:p>
            <a:pPr lvl="0">
              <a:defRPr/>
            </a:pPr>
            <a:r>
              <a:rPr lang="ko-KR" altLang="en-US"/>
              <a:t>셋째 목차</a:t>
            </a:r>
          </a:p>
          <a:p>
            <a:pPr lvl="0">
              <a:defRPr/>
            </a:pPr>
            <a:r>
              <a:rPr lang="ko-KR" altLang="en-US"/>
              <a:t>넷째 목차</a:t>
            </a:r>
          </a:p>
          <a:p>
            <a:pPr lvl="0">
              <a:defRPr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05715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87717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95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733" y="742691"/>
            <a:ext cx="11168481" cy="173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latin typeface="+mj-ea"/>
                <a:ea typeface="+mj-ea"/>
              </a:rPr>
              <a:t>RV32I Instruction-Type Based Processor Design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030535" y="2711055"/>
            <a:ext cx="6255557" cy="3636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 / I / IL / S / B / U / UL / J / JL 타입 구현 및 동작 검증</a:t>
            </a:r>
          </a:p>
        </p:txBody>
      </p:sp>
      <p:sp>
        <p:nvSpPr>
          <p:cNvPr id="4" name="가로 글상자 3"/>
          <p:cNvSpPr txBox="1"/>
          <p:nvPr/>
        </p:nvSpPr>
        <p:spPr>
          <a:xfrm>
            <a:off x="9638744" y="6496352"/>
            <a:ext cx="2619821" cy="361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AI </a:t>
            </a:r>
            <a:r>
              <a:rPr lang="ko-KR" altLang="en-US"/>
              <a:t>온디바이스 장현동</a:t>
            </a:r>
          </a:p>
        </p:txBody>
      </p:sp>
      <p:sp>
        <p:nvSpPr>
          <p:cNvPr id="6" name="직사각형 5"/>
          <p:cNvSpPr/>
          <p:nvPr/>
        </p:nvSpPr>
        <p:spPr>
          <a:xfrm flipV="1">
            <a:off x="0" y="6437985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6314" y="827745"/>
            <a:ext cx="5980922" cy="75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400">
                <a:latin typeface="맑은 고딕"/>
              </a:rPr>
              <a:t>목차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4014994" y="2098627"/>
            <a:ext cx="5176632" cy="2962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>
                <a:latin typeface="맑은 고딕"/>
              </a:rPr>
              <a:t>1.</a:t>
            </a:r>
            <a:r>
              <a:rPr lang="ko-KR" altLang="en-US" sz="2100">
                <a:latin typeface="맑은 고딕"/>
              </a:rPr>
              <a:t> </a:t>
            </a:r>
            <a:r>
              <a:rPr lang="en-US" altLang="ko-KR" sz="2100">
                <a:latin typeface="맑은 고딕"/>
              </a:rPr>
              <a:t>	</a:t>
            </a:r>
            <a:r>
              <a:rPr lang="ko-KR" altLang="en-US" sz="2100">
                <a:latin typeface="맑은 고딕"/>
              </a:rPr>
              <a:t>개요</a:t>
            </a:r>
          </a:p>
          <a:p>
            <a:pPr lvl="0">
              <a:defRPr/>
            </a:pPr>
            <a:endParaRPr lang="ko-KR" altLang="en-US" sz="2100">
              <a:latin typeface="맑은 고딕"/>
            </a:endParaRPr>
          </a:p>
          <a:p>
            <a:pPr lvl="0">
              <a:defRPr/>
            </a:pPr>
            <a:r>
              <a:rPr lang="en-US" altLang="ko-KR" sz="2100">
                <a:latin typeface="맑은 고딕"/>
              </a:rPr>
              <a:t>2.</a:t>
            </a:r>
            <a:r>
              <a:rPr lang="ko-KR" altLang="en-US" sz="2100">
                <a:latin typeface="맑은 고딕"/>
              </a:rPr>
              <a:t> </a:t>
            </a:r>
            <a:r>
              <a:rPr lang="en-US" altLang="ko-KR" sz="2100">
                <a:latin typeface="맑은 고딕"/>
              </a:rPr>
              <a:t>	</a:t>
            </a:r>
            <a:r>
              <a:rPr lang="ko-KR" altLang="en-US" sz="2100">
                <a:latin typeface="맑은 고딕"/>
              </a:rPr>
              <a:t>전체블럭도</a:t>
            </a:r>
          </a:p>
          <a:p>
            <a:pPr lvl="0">
              <a:defRPr/>
            </a:pPr>
            <a:endParaRPr lang="ko-KR" altLang="en-US" sz="2100">
              <a:latin typeface="맑은 고딕"/>
            </a:endParaRPr>
          </a:p>
          <a:p>
            <a:pPr lvl="0">
              <a:defRPr/>
            </a:pPr>
            <a:r>
              <a:rPr lang="en-US" altLang="ko-KR" sz="2100">
                <a:latin typeface="맑은 고딕"/>
              </a:rPr>
              <a:t>3.	</a:t>
            </a:r>
            <a:r>
              <a:rPr lang="ko-KR" altLang="en-US" sz="2100">
                <a:latin typeface="맑은 고딕"/>
              </a:rPr>
              <a:t>타입별 시뮬</a:t>
            </a:r>
          </a:p>
          <a:p>
            <a:pPr lvl="0">
              <a:defRPr/>
            </a:pPr>
            <a:endParaRPr lang="ko-KR" altLang="en-US" sz="2100">
              <a:latin typeface="맑은 고딕"/>
            </a:endParaRPr>
          </a:p>
          <a:p>
            <a:pPr lvl="0">
              <a:defRPr/>
            </a:pPr>
            <a:r>
              <a:rPr lang="en-US" altLang="ko-KR" sz="2100">
                <a:latin typeface="맑은 고딕"/>
              </a:rPr>
              <a:t>4.</a:t>
            </a:r>
            <a:r>
              <a:rPr lang="ko-KR" altLang="en-US" sz="2100">
                <a:latin typeface="맑은 고딕"/>
              </a:rPr>
              <a:t> </a:t>
            </a:r>
            <a:r>
              <a:rPr lang="en-US" altLang="ko-KR" sz="2100">
                <a:latin typeface="맑은 고딕"/>
              </a:rPr>
              <a:t>	C - Code </a:t>
            </a:r>
            <a:r>
              <a:rPr lang="ko-KR" altLang="en-US" sz="2100">
                <a:latin typeface="맑은 고딕"/>
              </a:rPr>
              <a:t>시뮬</a:t>
            </a:r>
          </a:p>
          <a:p>
            <a:pPr lvl="0">
              <a:defRPr/>
            </a:pPr>
            <a:endParaRPr lang="ko-KR" altLang="en-US" sz="2100">
              <a:latin typeface="맑은 고딕"/>
            </a:endParaRPr>
          </a:p>
          <a:p>
            <a:pPr lvl="0">
              <a:defRPr/>
            </a:pPr>
            <a:r>
              <a:rPr lang="en-US" altLang="ko-KR" sz="2100">
                <a:latin typeface="맑은 고딕"/>
              </a:rPr>
              <a:t>5.</a:t>
            </a:r>
            <a:r>
              <a:rPr lang="ko-KR" altLang="en-US" sz="2100">
                <a:latin typeface="맑은 고딕"/>
              </a:rPr>
              <a:t> </a:t>
            </a:r>
            <a:r>
              <a:rPr lang="en-US" altLang="ko-KR" sz="2100">
                <a:latin typeface="맑은 고딕"/>
              </a:rPr>
              <a:t>	Trouble shooting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0" y="6395651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0" name="직사각형 9"/>
          <p:cNvSpPr/>
          <p:nvPr/>
        </p:nvSpPr>
        <p:spPr>
          <a:xfrm flipV="1">
            <a:off x="5272085" y="1774219"/>
            <a:ext cx="505353" cy="2434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0310" y="615388"/>
            <a:ext cx="3790171" cy="754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400"/>
              <a:t>발표 개요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276704" y="1840610"/>
            <a:ext cx="6347677" cy="37772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en-US" altLang="ko-KR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	</a:t>
            </a:r>
            <a:r>
              <a:rPr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RISC-V / RV32I 개요</a:t>
            </a:r>
          </a:p>
          <a:p>
            <a:pPr lvl="0" algn="l">
              <a:defRPr/>
            </a:pPr>
            <a:endParaRPr sz="22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	</a:t>
            </a:r>
            <a:r>
              <a:rPr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설계 범위 및 Assumptions</a:t>
            </a:r>
          </a:p>
          <a:p>
            <a:pPr lvl="0" algn="l">
              <a:defRPr/>
            </a:pPr>
            <a:endParaRPr sz="22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	</a:t>
            </a:r>
            <a:r>
              <a:rPr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Datapath / Control Flow</a:t>
            </a:r>
          </a:p>
          <a:p>
            <a:pPr lvl="0" algn="l">
              <a:defRPr/>
            </a:pPr>
            <a:endParaRPr sz="22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	</a:t>
            </a:r>
            <a:r>
              <a:rPr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명령어 타입별 동작</a:t>
            </a:r>
            <a:r>
              <a:rPr lang="en-US" altLang="ko-KR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Simulation</a:t>
            </a:r>
            <a:r>
              <a:rPr lang="ko-KR" altLang="en-US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결과</a:t>
            </a:r>
          </a:p>
          <a:p>
            <a:pPr lvl="0" algn="l">
              <a:defRPr/>
            </a:pPr>
            <a:endParaRPr sz="22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	</a:t>
            </a:r>
            <a:r>
              <a:rPr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전체 실행 흐름 검증</a:t>
            </a:r>
          </a:p>
          <a:p>
            <a:pPr lvl="0" algn="l">
              <a:defRPr/>
            </a:pPr>
            <a:endParaRPr sz="22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	</a:t>
            </a:r>
            <a:r>
              <a:rPr sz="22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Trouble Shooting / Conclusion</a:t>
            </a:r>
          </a:p>
        </p:txBody>
      </p:sp>
      <p:sp>
        <p:nvSpPr>
          <p:cNvPr id="7" name="직사각형 6"/>
          <p:cNvSpPr/>
          <p:nvPr/>
        </p:nvSpPr>
        <p:spPr>
          <a:xfrm flipV="1">
            <a:off x="0" y="6374484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8" name="직사각형 7"/>
          <p:cNvSpPr/>
          <p:nvPr/>
        </p:nvSpPr>
        <p:spPr>
          <a:xfrm flipV="1">
            <a:off x="5684372" y="1461572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 flipV="1">
            <a:off x="0" y="6374484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3" name="직사각형 2"/>
          <p:cNvSpPr/>
          <p:nvPr/>
        </p:nvSpPr>
        <p:spPr>
          <a:xfrm flipV="1">
            <a:off x="5684372" y="1196989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4" name="TextBox 1"/>
          <p:cNvSpPr txBox="1"/>
          <p:nvPr/>
        </p:nvSpPr>
        <p:spPr>
          <a:xfrm>
            <a:off x="5140727" y="350804"/>
            <a:ext cx="3790171" cy="754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RISC - V</a:t>
            </a:r>
          </a:p>
        </p:txBody>
      </p:sp>
      <p:graphicFrame>
        <p:nvGraphicFramePr>
          <p:cNvPr id="8" name="표 7"/>
          <p:cNvGraphicFramePr/>
          <p:nvPr/>
        </p:nvGraphicFramePr>
        <p:xfrm>
          <a:off x="1030604" y="1757011"/>
          <a:ext cx="10321290" cy="3338261"/>
        </p:xfrm>
        <a:graphic>
          <a:graphicData uri="http://schemas.openxmlformats.org/drawingml/2006/table">
            <a:tbl>
              <a:tblPr firstRow="1" bandRow="1">
                <a:tableStyleId>{F77BBAD0-2FD1-4BB3-BED5-B7D4590D3504}</a:tableStyleId>
              </a:tblPr>
              <a:tblGrid>
                <a:gridCol w="344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0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0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777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endParaRPr lang="en-US" altLang="ko-KR">
                        <a:latin typeface="맑은 고딕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RISC -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latin typeface="맑은 고딕"/>
                        </a:rPr>
                        <a:t>CISC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217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기능적 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단순 명령어를 조합해 </a:t>
                      </a:r>
                    </a:p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동작 수행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복잡한 명령어 하나로 </a:t>
                      </a:r>
                    </a:p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다수 기능 수행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7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메모리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Load/Store 분리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명령어 내부 직접 접근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74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명령어 포맷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규칙적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다양함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331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구현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비교적 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복잡함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569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검증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비교적 명확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18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상대적으로 어려움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034625" y="5397816"/>
            <a:ext cx="4301914" cy="8243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RISC-V</a:t>
            </a:r>
            <a:r>
              <a:rPr lang="ko-KR" altLang="en-US" sz="16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모듈형 구조로 필요한 명령어만 선택 가능</a:t>
            </a:r>
          </a:p>
          <a:p>
            <a:pPr lvl="0" algn="l">
              <a:defRPr/>
            </a:pPr>
            <a:endParaRPr sz="16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11" name="가로 글상자 10"/>
          <p:cNvSpPr txBox="1"/>
          <p:nvPr/>
        </p:nvSpPr>
        <p:spPr>
          <a:xfrm>
            <a:off x="5439270" y="5397816"/>
            <a:ext cx="4148666" cy="57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RV32I</a:t>
            </a:r>
            <a:r>
              <a:rPr lang="ko-KR" altLang="en-US"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32비트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기본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정수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명령어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집합</a:t>
            </a:r>
            <a:endParaRPr sz="16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산술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논리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메모리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분기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점프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기능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포함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8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 flipV="1">
            <a:off x="0" y="6374484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3" name="직사각형 2"/>
          <p:cNvSpPr/>
          <p:nvPr/>
        </p:nvSpPr>
        <p:spPr>
          <a:xfrm flipV="1">
            <a:off x="5684372" y="1461572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4" name="TextBox 1"/>
          <p:cNvSpPr txBox="1"/>
          <p:nvPr/>
        </p:nvSpPr>
        <p:spPr>
          <a:xfrm>
            <a:off x="4802060" y="615388"/>
            <a:ext cx="3790171" cy="754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400"/>
              <a:t>설계 목표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74010" y="1956646"/>
            <a:ext cx="6856730" cy="25531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	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RV32I 명령어를 타입별로 분류하여 구현</a:t>
            </a:r>
          </a:p>
          <a:p>
            <a:pPr lvl="0" algn="l">
              <a:defRPr/>
            </a:pPr>
            <a:endParaRPr sz="18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	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각 타입에 맞는 Datapath와 Control Flow 설계</a:t>
            </a:r>
          </a:p>
          <a:p>
            <a:pPr lvl="0" algn="l">
              <a:defRPr/>
            </a:pPr>
            <a:endParaRPr sz="18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	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Vivado Simulation을 통한 타입별 기능 검증</a:t>
            </a:r>
          </a:p>
          <a:p>
            <a:pPr lvl="0" algn="l">
              <a:defRPr/>
            </a:pPr>
            <a:endParaRPr sz="18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	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C 코드 변환 기반 전체 실행 흐름 확인</a:t>
            </a:r>
          </a:p>
          <a:p>
            <a:pPr lvl="0" algn="l">
              <a:defRPr/>
            </a:pPr>
            <a:endParaRPr sz="18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	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RV32I 프로세서 구조와 동작 원리 이해</a:t>
            </a:r>
          </a:p>
        </p:txBody>
      </p:sp>
    </p:spTree>
    <p:extLst>
      <p:ext uri="{BB962C8B-B14F-4D97-AF65-F5344CB8AC3E}">
        <p14:creationId xmlns:p14="http://schemas.microsoft.com/office/powerpoint/2010/main" val="1902333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Block</a:t>
            </a:r>
            <a:endParaRPr lang="ko-KR" altLang="en-US" sz="4400"/>
          </a:p>
        </p:txBody>
      </p:sp>
      <p:sp>
        <p:nvSpPr>
          <p:cNvPr id="5" name="직사각형 4"/>
          <p:cNvSpPr/>
          <p:nvPr/>
        </p:nvSpPr>
        <p:spPr>
          <a:xfrm flipV="1">
            <a:off x="720788" y="1101739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 flipV="1">
            <a:off x="0" y="6374484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881" y="181109"/>
            <a:ext cx="7354746" cy="59117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Block</a:t>
            </a:r>
            <a:endParaRPr lang="ko-KR" altLang="en-US" sz="44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0468" y="95250"/>
            <a:ext cx="7802064" cy="623977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 flipV="1">
            <a:off x="720788" y="1101739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 flipV="1">
            <a:off x="0" y="6374484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>
          <a:xfrm>
            <a:off x="2421043" y="6419027"/>
            <a:ext cx="6545580" cy="367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Fetch → Decode → Execute → Memory Access → Write Back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460653" y="982979"/>
            <a:ext cx="2731347" cy="44771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PC를 기준으로 명령어를 fetch</a:t>
            </a:r>
          </a:p>
          <a:p>
            <a:pPr lvl="0" algn="l">
              <a:defRPr/>
            </a:pPr>
            <a:endParaRPr sz="180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sz="180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Control Unit이 명령어 타입별 제어신호 생성</a:t>
            </a:r>
          </a:p>
          <a:p>
            <a:pPr lvl="0" algn="l">
              <a:defRPr/>
            </a:pPr>
            <a:endParaRPr sz="180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sz="180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Register File과 Immediate Generator가 입력값 제공</a:t>
            </a:r>
          </a:p>
          <a:p>
            <a:pPr lvl="0" algn="l">
              <a:defRPr/>
            </a:pPr>
            <a:endParaRPr sz="180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sz="180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ALU에서 연산 및 주소 계산 수행</a:t>
            </a:r>
          </a:p>
          <a:p>
            <a:pPr lvl="0" algn="l">
              <a:defRPr/>
            </a:pPr>
            <a:endParaRPr sz="180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sz="180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Data Memory와 Write Back 경로를 통해 결과 반영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127249" y="3677707"/>
            <a:ext cx="4573284" cy="2657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2169581" y="3690526"/>
            <a:ext cx="1058334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Fetch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766484" y="274108"/>
            <a:ext cx="1566334" cy="3154891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2914648" y="276343"/>
            <a:ext cx="1058334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Decode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924552" y="98426"/>
            <a:ext cx="1423049" cy="31250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가로 글상자 13"/>
          <p:cNvSpPr txBox="1"/>
          <p:nvPr/>
        </p:nvSpPr>
        <p:spPr>
          <a:xfrm>
            <a:off x="6096000" y="756826"/>
            <a:ext cx="1058334" cy="365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Execute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366073" y="581075"/>
            <a:ext cx="1471083" cy="2742141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821185" y="3429000"/>
            <a:ext cx="1357616" cy="203745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가로 글상자 16"/>
          <p:cNvSpPr txBox="1"/>
          <p:nvPr/>
        </p:nvSpPr>
        <p:spPr>
          <a:xfrm>
            <a:off x="6851648" y="4995333"/>
            <a:ext cx="1206501" cy="365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Write Back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7510020" y="1101739"/>
            <a:ext cx="1058334" cy="640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Memory </a:t>
            </a:r>
            <a:r>
              <a:rPr lang="en-US" altLang="ko-KR" dirty="0" err="1"/>
              <a:t>Acces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523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693829"/>
              </p:ext>
            </p:extLst>
          </p:nvPr>
        </p:nvGraphicFramePr>
        <p:xfrm>
          <a:off x="624122" y="1158531"/>
          <a:ext cx="11179103" cy="5436453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223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4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257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1">
                          <a:effectLst/>
                          <a:latin typeface="맑은 고딕"/>
                        </a:rPr>
                        <a:t>타입</a:t>
                      </a:r>
                      <a:endParaRPr lang="ko-KR" altLang="en-US" sz="1600" b="1">
                        <a:solidFill>
                          <a:srgbClr val="616161"/>
                        </a:solidFill>
                        <a:effectLst/>
                        <a:latin typeface="맑은 고딕"/>
                      </a:endParaRP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1">
                          <a:effectLst/>
                          <a:latin typeface="맑은 고딕"/>
                        </a:rPr>
                        <a:t>대표 명령어</a:t>
                      </a:r>
                      <a:endParaRPr lang="ko-KR" altLang="en-US" sz="1600" b="1">
                        <a:solidFill>
                          <a:srgbClr val="616161"/>
                        </a:solidFill>
                        <a:effectLst/>
                        <a:latin typeface="맑은 고딕"/>
                      </a:endParaRP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1">
                          <a:effectLst/>
                          <a:latin typeface="맑은 고딕"/>
                        </a:rPr>
                        <a:t>동작</a:t>
                      </a:r>
                      <a:endParaRPr lang="ko-KR" altLang="en-US" sz="1600" b="1">
                        <a:solidFill>
                          <a:srgbClr val="616161"/>
                        </a:solidFill>
                        <a:effectLst/>
                        <a:latin typeface="맑은 고딕"/>
                      </a:endParaRP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1">
                          <a:effectLst/>
                          <a:latin typeface="맑은 고딕"/>
                        </a:rPr>
                        <a:t>주요 입력</a:t>
                      </a:r>
                      <a:endParaRPr lang="ko-KR" altLang="en-US" sz="1600" b="1">
                        <a:solidFill>
                          <a:srgbClr val="616161"/>
                        </a:solidFill>
                        <a:effectLst/>
                        <a:latin typeface="맑은 고딕"/>
                      </a:endParaRP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 b="1">
                          <a:effectLst/>
                          <a:latin typeface="맑은 고딕"/>
                        </a:rPr>
                        <a:t>주요 출력</a:t>
                      </a:r>
                      <a:endParaRPr lang="ko-KR" altLang="en-US" sz="1600" b="1">
                        <a:solidFill>
                          <a:srgbClr val="616161"/>
                        </a:solidFill>
                        <a:effectLst/>
                        <a:latin typeface="맑은 고딕"/>
                      </a:endParaRP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939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R-Type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dirty="0">
                          <a:effectLst/>
                          <a:latin typeface="맑은 고딕"/>
                        </a:rPr>
                        <a:t>ADD, SUB, AND, OR, XOR, SLL, SRL, SRA, SLT, SLTU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>
                          <a:effectLst/>
                          <a:latin typeface="맑은 고딕"/>
                        </a:rPr>
                        <a:t>두 레지스터 값 연산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rs1, rs2, funct3, funct7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rd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481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I-Type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it-IT" sz="1600" dirty="0">
                          <a:effectLst/>
                          <a:latin typeface="맑은 고딕"/>
                          <a:ea typeface="맑은 고딕"/>
                        </a:rPr>
                        <a:t>ADDI, ANDI, ORI, XORI, SLLI, SRLI, SRAI, SLTI, SLTIU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>
                          <a:effectLst/>
                          <a:latin typeface="맑은 고딕"/>
                        </a:rPr>
                        <a:t>레지스터와 즉시값 연산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rs1, imm, funct3, funct7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rd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7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IL-Type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dirty="0">
                          <a:effectLst/>
                          <a:latin typeface="맑은 고딕"/>
                        </a:rPr>
                        <a:t>LB, LH, LW, LBU, LHU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>
                          <a:effectLst/>
                          <a:latin typeface="맑은 고딕"/>
                        </a:rPr>
                        <a:t>메모리에서 데이터 읽기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rs1, imm, funct3, Mem</a:t>
                      </a:r>
                    </a:p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[rs1+imm]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rd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4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S-Type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SB, SH, SW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>
                          <a:effectLst/>
                          <a:latin typeface="맑은 고딕"/>
                        </a:rPr>
                        <a:t>메모리에 데이터 저장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rs1, rs2, imm, funct3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Mem[rs1+imm]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119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B-Type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dirty="0">
                          <a:effectLst/>
                          <a:latin typeface="맑은 고딕"/>
                        </a:rPr>
                        <a:t>BEQ, BNE, BLT, BGE, BLTU, BGEU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>
                          <a:effectLst/>
                          <a:latin typeface="맑은 고딕"/>
                        </a:rPr>
                        <a:t>조건 비교 후 분기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rs1, rs2, imm, funct3, PC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PC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18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U-Type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AUIPC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PC + imm </a:t>
                      </a:r>
                      <a:r>
                        <a:rPr lang="ko-KR" altLang="en-US" sz="1600">
                          <a:effectLst/>
                          <a:latin typeface="맑은 고딕"/>
                        </a:rPr>
                        <a:t>결과 저장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PC, imm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rd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85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UL-Type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dirty="0">
                          <a:effectLst/>
                          <a:latin typeface="맑은 고딕"/>
                        </a:rPr>
                        <a:t>LUI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>
                          <a:effectLst/>
                          <a:latin typeface="맑은 고딕"/>
                        </a:rPr>
                        <a:t>즉시값 상위 </a:t>
                      </a:r>
                      <a:r>
                        <a:rPr lang="en-US" altLang="ko-KR" sz="1600">
                          <a:effectLst/>
                          <a:latin typeface="맑은 고딕"/>
                        </a:rPr>
                        <a:t>20</a:t>
                      </a:r>
                      <a:r>
                        <a:rPr lang="ko-KR" altLang="en-US" sz="1600">
                          <a:effectLst/>
                          <a:latin typeface="맑은 고딕"/>
                        </a:rPr>
                        <a:t>비트 로드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imm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rd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759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J-Type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dirty="0">
                          <a:effectLst/>
                          <a:latin typeface="맑은 고딕"/>
                        </a:rPr>
                        <a:t>JAL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600">
                          <a:effectLst/>
                          <a:latin typeface="맑은 고딕"/>
                        </a:rPr>
                        <a:t>점프하고 </a:t>
                      </a:r>
                      <a:r>
                        <a:rPr lang="en-US" altLang="ko-KR" sz="1600">
                          <a:effectLst/>
                          <a:latin typeface="맑은 고딕"/>
                        </a:rPr>
                        <a:t>PC+4</a:t>
                      </a:r>
                      <a:r>
                        <a:rPr lang="ko-KR" altLang="en-US" sz="1600">
                          <a:effectLst/>
                          <a:latin typeface="맑은 고딕"/>
                        </a:rPr>
                        <a:t> 저장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PC, imm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rd, PC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417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b="1">
                          <a:effectLst/>
                          <a:latin typeface="맑은 고딕"/>
                        </a:rPr>
                        <a:t>JL-Type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dirty="0">
                          <a:effectLst/>
                          <a:latin typeface="맑은 고딕"/>
                        </a:rPr>
                        <a:t>JALR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600">
                          <a:effectLst/>
                          <a:latin typeface="맑은 고딕"/>
                        </a:rPr>
                        <a:t>rs1+imm</a:t>
                      </a:r>
                      <a:r>
                        <a:rPr lang="ko-KR" altLang="en-US" sz="1600">
                          <a:effectLst/>
                          <a:latin typeface="맑은 고딕"/>
                        </a:rPr>
                        <a:t>로 점프하고 </a:t>
                      </a:r>
                      <a:r>
                        <a:rPr lang="en-US" altLang="ko-KR" sz="1600">
                          <a:effectLst/>
                          <a:latin typeface="맑은 고딕"/>
                        </a:rPr>
                        <a:t>PC+4</a:t>
                      </a:r>
                      <a:r>
                        <a:rPr lang="ko-KR" altLang="en-US" sz="1600">
                          <a:effectLst/>
                          <a:latin typeface="맑은 고딕"/>
                        </a:rPr>
                        <a:t> 저장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>
                          <a:effectLst/>
                          <a:latin typeface="맑은 고딕"/>
                        </a:rPr>
                        <a:t>rs1, imm, PC</a:t>
                      </a:r>
                    </a:p>
                  </a:txBody>
                  <a:tcPr marL="8539" marR="8539" marT="8539" marB="8539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600" dirty="0" err="1">
                          <a:effectLst/>
                          <a:latin typeface="맑은 고딕"/>
                        </a:rPr>
                        <a:t>rd</a:t>
                      </a:r>
                      <a:r>
                        <a:rPr lang="en-US" sz="1600" dirty="0">
                          <a:effectLst/>
                          <a:latin typeface="맑은 고딕"/>
                        </a:rPr>
                        <a:t>, PC</a:t>
                      </a:r>
                    </a:p>
                  </a:txBody>
                  <a:tcPr marL="8539" marR="8539" marT="8539" marB="8539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2"/>
          <p:cNvSpPr txBox="1"/>
          <p:nvPr/>
        </p:nvSpPr>
        <p:spPr>
          <a:xfrm>
            <a:off x="466531" y="382555"/>
            <a:ext cx="10193088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dirty="0"/>
              <a:t>RV32I Instruction Type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466531" y="382555"/>
            <a:ext cx="10193088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 Instruction Type Classification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092948"/>
              </p:ext>
            </p:extLst>
          </p:nvPr>
        </p:nvGraphicFramePr>
        <p:xfrm>
          <a:off x="612470" y="1450912"/>
          <a:ext cx="11097447" cy="5089846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1636208">
                  <a:extLst>
                    <a:ext uri="{9D8B030D-6E8A-4147-A177-3AD203B41FA5}">
                      <a16:colId xmlns:a16="http://schemas.microsoft.com/office/drawing/2014/main" val="108060751"/>
                    </a:ext>
                  </a:extLst>
                </a:gridCol>
                <a:gridCol w="4161453">
                  <a:extLst>
                    <a:ext uri="{9D8B030D-6E8A-4147-A177-3AD203B41FA5}">
                      <a16:colId xmlns:a16="http://schemas.microsoft.com/office/drawing/2014/main" val="3874720081"/>
                    </a:ext>
                  </a:extLst>
                </a:gridCol>
                <a:gridCol w="5299786">
                  <a:extLst>
                    <a:ext uri="{9D8B030D-6E8A-4147-A177-3AD203B41FA5}">
                      <a16:colId xmlns:a16="http://schemas.microsoft.com/office/drawing/2014/main" val="2150754389"/>
                    </a:ext>
                  </a:extLst>
                </a:gridCol>
              </a:tblGrid>
              <a:tr h="29910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Main Role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Key Feature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1644070858"/>
                  </a:ext>
                </a:extLst>
              </a:tr>
              <a:tr h="742598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레지스터 간 산술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논리 연산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두 소스 레지스터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(rs1, rs2)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 사용하고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결과를 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2615238483"/>
                  </a:ext>
                </a:extLst>
              </a:tr>
              <a:tr h="506018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즉시수 기반 산술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논리 연산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rs1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immediate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 연산하여 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3111690757"/>
                  </a:ext>
                </a:extLst>
              </a:tr>
              <a:tr h="5060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IL-Type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메모리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load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주소 계산 후 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data memory 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값을 읽어 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3672368484"/>
                  </a:ext>
                </a:extLst>
              </a:tr>
              <a:tr h="624308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메모리 </a:t>
                      </a: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store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주소 계산 후 레지스터 값을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memory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 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없음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3524334588"/>
                  </a:ext>
                </a:extLst>
              </a:tr>
              <a:tr h="624308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 분기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두 레지스터를 비교하여 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branch 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여부 결정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write-back 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3006393537"/>
                  </a:ext>
                </a:extLst>
              </a:tr>
              <a:tr h="506018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PC-relative upper immediate 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연산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상위 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immediate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 현재 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 더해 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667331154"/>
                  </a:ext>
                </a:extLst>
              </a:tr>
              <a:tr h="387727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UL-Type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upper immediate load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상위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비트를 바로 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3361598746"/>
                  </a:ext>
                </a:extLst>
              </a:tr>
              <a:tr h="387727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jump and link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점프 수행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동시에 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PC+4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 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317740423"/>
                  </a:ext>
                </a:extLst>
              </a:tr>
              <a:tr h="5060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JL-Type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register-indirect jump and link</a:t>
                      </a:r>
                    </a:p>
                  </a:txBody>
                  <a:tcPr marL="15046" marR="15046" marT="15046" marB="150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rs1 +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imm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주소로 점프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 PC+4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를 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저장</a:t>
                      </a:r>
                    </a:p>
                  </a:txBody>
                  <a:tcPr marL="15046" marR="15046" marT="15046" marB="15046" anchor="ctr"/>
                </a:tc>
                <a:extLst>
                  <a:ext uri="{0D108BD9-81ED-4DB2-BD59-A6C34878D82A}">
                    <a16:rowId xmlns:a16="http://schemas.microsoft.com/office/drawing/2014/main" val="48947365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268913" y="160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04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 Simulate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/>
              <a:t>- </a:t>
            </a:r>
            <a:r>
              <a:rPr lang="en-US" altLang="ko-KR" sz="2400" dirty="0" smtClean="0"/>
              <a:t>true table</a:t>
            </a:r>
            <a:endParaRPr lang="en-US" altLang="ko-KR" sz="2400" dirty="0"/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323030"/>
              </p:ext>
            </p:extLst>
          </p:nvPr>
        </p:nvGraphicFramePr>
        <p:xfrm>
          <a:off x="504798" y="1654075"/>
          <a:ext cx="11531690" cy="4970663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1153169">
                  <a:extLst>
                    <a:ext uri="{9D8B030D-6E8A-4147-A177-3AD203B41FA5}">
                      <a16:colId xmlns:a16="http://schemas.microsoft.com/office/drawing/2014/main" val="336308746"/>
                    </a:ext>
                  </a:extLst>
                </a:gridCol>
                <a:gridCol w="1150545">
                  <a:extLst>
                    <a:ext uri="{9D8B030D-6E8A-4147-A177-3AD203B41FA5}">
                      <a16:colId xmlns:a16="http://schemas.microsoft.com/office/drawing/2014/main" val="1915177846"/>
                    </a:ext>
                  </a:extLst>
                </a:gridCol>
                <a:gridCol w="1155793">
                  <a:extLst>
                    <a:ext uri="{9D8B030D-6E8A-4147-A177-3AD203B41FA5}">
                      <a16:colId xmlns:a16="http://schemas.microsoft.com/office/drawing/2014/main" val="3929331123"/>
                    </a:ext>
                  </a:extLst>
                </a:gridCol>
                <a:gridCol w="1153169">
                  <a:extLst>
                    <a:ext uri="{9D8B030D-6E8A-4147-A177-3AD203B41FA5}">
                      <a16:colId xmlns:a16="http://schemas.microsoft.com/office/drawing/2014/main" val="4073392945"/>
                    </a:ext>
                  </a:extLst>
                </a:gridCol>
                <a:gridCol w="844785">
                  <a:extLst>
                    <a:ext uri="{9D8B030D-6E8A-4147-A177-3AD203B41FA5}">
                      <a16:colId xmlns:a16="http://schemas.microsoft.com/office/drawing/2014/main" val="3077489437"/>
                    </a:ext>
                  </a:extLst>
                </a:gridCol>
                <a:gridCol w="1461553">
                  <a:extLst>
                    <a:ext uri="{9D8B030D-6E8A-4147-A177-3AD203B41FA5}">
                      <a16:colId xmlns:a16="http://schemas.microsoft.com/office/drawing/2014/main" val="776576328"/>
                    </a:ext>
                  </a:extLst>
                </a:gridCol>
                <a:gridCol w="693819">
                  <a:extLst>
                    <a:ext uri="{9D8B030D-6E8A-4147-A177-3AD203B41FA5}">
                      <a16:colId xmlns:a16="http://schemas.microsoft.com/office/drawing/2014/main" val="2981440312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3779138750"/>
                    </a:ext>
                  </a:extLst>
                </a:gridCol>
                <a:gridCol w="391885">
                  <a:extLst>
                    <a:ext uri="{9D8B030D-6E8A-4147-A177-3AD203B41FA5}">
                      <a16:colId xmlns:a16="http://schemas.microsoft.com/office/drawing/2014/main" val="2005354883"/>
                    </a:ext>
                  </a:extLst>
                </a:gridCol>
                <a:gridCol w="2873829">
                  <a:extLst>
                    <a:ext uri="{9D8B030D-6E8A-4147-A177-3AD203B41FA5}">
                      <a16:colId xmlns:a16="http://schemas.microsoft.com/office/drawing/2014/main" val="1078766430"/>
                    </a:ext>
                  </a:extLst>
                </a:gridCol>
              </a:tblGrid>
              <a:tr h="490479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Type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Opcode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rf_we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alu_src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dwe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rfwd_src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branch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jal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jalr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</a:rPr>
                        <a:t>alu_control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3032294656"/>
                  </a:ext>
                </a:extLst>
              </a:tr>
              <a:tr h="56576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R-Type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0110011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3’b000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{funct7[5], funct3}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633643544"/>
                  </a:ext>
                </a:extLst>
              </a:tr>
              <a:tr h="4904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0100011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3’b001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0000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1299658922"/>
                  </a:ext>
                </a:extLst>
              </a:tr>
              <a:tr h="4611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IL-Type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0000011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3’b001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0000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2943510319"/>
                  </a:ext>
                </a:extLst>
              </a:tr>
              <a:tr h="6180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I-Type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0010011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3’b000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funct3 or {funct7[5], funct3}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1958541529"/>
                  </a:ext>
                </a:extLst>
              </a:tr>
              <a:tr h="38280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B-Type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1100011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3’b000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{1'b0, funct3}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1105214631"/>
                  </a:ext>
                </a:extLst>
              </a:tr>
              <a:tr h="4904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U-Type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0010111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3’b011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0000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3147653224"/>
                  </a:ext>
                </a:extLst>
              </a:tr>
              <a:tr h="4904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UL-Type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0110111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3’b010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0000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3430268652"/>
                  </a:ext>
                </a:extLst>
              </a:tr>
              <a:tr h="4904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J-Type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1101111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3’b100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0000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2457706320"/>
                  </a:ext>
                </a:extLst>
              </a:tr>
              <a:tr h="4904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JL-Type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1100111</a:t>
                      </a:r>
                      <a:endParaRPr lang="ko-KR" alt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effectLst/>
                        </a:rPr>
                        <a:t>3’b100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solidFill>
                            <a:schemeClr val="tx1"/>
                          </a:solidFill>
                          <a:effectLst/>
                        </a:rPr>
                        <a:t>0000</a:t>
                      </a:r>
                      <a:endParaRPr lang="ko-KR" altLang="en-US" sz="18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175" marR="10175" marT="10175" marB="10175" anchor="ctr"/>
                </a:tc>
                <a:extLst>
                  <a:ext uri="{0D108BD9-81ED-4DB2-BD59-A6C34878D82A}">
                    <a16:rowId xmlns:a16="http://schemas.microsoft.com/office/drawing/2014/main" val="2618655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561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 Simulate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scenario</a:t>
            </a:r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5" name="직사각형 4"/>
          <p:cNvSpPr/>
          <p:nvPr/>
        </p:nvSpPr>
        <p:spPr>
          <a:xfrm>
            <a:off x="1081111" y="2922431"/>
            <a:ext cx="4912252" cy="12124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000" b="1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타입별</a:t>
            </a:r>
            <a:r>
              <a:rPr sz="2000" b="1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2000" b="1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단위</a:t>
            </a:r>
            <a:r>
              <a:rPr sz="2000" b="1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2000" b="1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검증</a:t>
            </a:r>
            <a:endParaRPr sz="2000" b="1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각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타입에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해당하는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명령어만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ROM에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넣고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</a:t>
            </a:r>
          </a:p>
          <a:p>
            <a:pPr lvl="0" algn="l">
              <a:defRPr/>
            </a:pP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그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타입의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핵심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기능이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정상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동작하는지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확인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35264" y="2891141"/>
            <a:ext cx="4639752" cy="12135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lang="ko-KR" altLang="en-US" sz="2000" b="1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통합</a:t>
            </a:r>
            <a:r>
              <a:rPr sz="2000" b="1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검증</a:t>
            </a:r>
          </a:p>
          <a:p>
            <a:pPr lvl="0" algn="l"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 algn="l"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여러 타입 명령어를 섞어서 ROM에 넣고,</a:t>
            </a:r>
          </a:p>
          <a:p>
            <a:pPr lvl="0" algn="l"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실제 프로그램처럼 순차 실행되는지 확인</a:t>
            </a:r>
          </a:p>
        </p:txBody>
      </p:sp>
      <p:sp>
        <p:nvSpPr>
          <p:cNvPr id="7" name="직사각형 6"/>
          <p:cNvSpPr/>
          <p:nvPr/>
        </p:nvSpPr>
        <p:spPr>
          <a:xfrm flipV="1">
            <a:off x="0" y="64803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444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 Simulate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scenario</a:t>
            </a:r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>
          <a:xfrm flipV="1">
            <a:off x="0" y="64803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19" y="2244705"/>
            <a:ext cx="4190670" cy="215732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768907"/>
            <a:ext cx="4791744" cy="47822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9918" y="4721290"/>
            <a:ext cx="616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</a:t>
            </a:r>
            <a:r>
              <a:rPr lang="ko-KR" altLang="en-US" dirty="0" smtClean="0"/>
              <a:t>을 하기 위해 </a:t>
            </a:r>
            <a:r>
              <a:rPr lang="en-US" altLang="ko-KR" dirty="0" smtClean="0"/>
              <a:t>register file _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xn</a:t>
            </a:r>
            <a:r>
              <a:rPr lang="en-US" altLang="ko-KR" dirty="0" smtClean="0"/>
              <a:t> = n </a:t>
            </a:r>
            <a:r>
              <a:rPr lang="ko-KR" altLang="en-US" dirty="0" smtClean="0"/>
              <a:t>값 할당</a:t>
            </a:r>
            <a:endParaRPr lang="en-US" altLang="ko-KR" dirty="0" smtClean="0"/>
          </a:p>
          <a:p>
            <a:r>
              <a:rPr lang="ko-KR" altLang="en-US" dirty="0" smtClean="0"/>
              <a:t>필요시 특정 레지스터에 필요한 값 할당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9501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R Type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5412" y="4393906"/>
            <a:ext cx="11641175" cy="1895740"/>
          </a:xfrm>
          <a:prstGeom prst="rect">
            <a:avLst/>
          </a:prstGeom>
        </p:spPr>
      </p:pic>
      <p:sp>
        <p:nvSpPr>
          <p:cNvPr id="14" name="TextBox 6"/>
          <p:cNvSpPr txBox="1"/>
          <p:nvPr/>
        </p:nvSpPr>
        <p:spPr>
          <a:xfrm>
            <a:off x="914400" y="3950944"/>
            <a:ext cx="960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Funct 7           </a:t>
            </a:r>
            <a:r>
              <a:rPr lang="ko-KR" altLang="en-US"/>
              <a:t>         </a:t>
            </a:r>
            <a:r>
              <a:rPr lang="en-US" altLang="ko-KR"/>
              <a:t>rs2            </a:t>
            </a:r>
            <a:r>
              <a:rPr lang="ko-KR" altLang="en-US"/>
              <a:t>        </a:t>
            </a:r>
            <a:r>
              <a:rPr lang="en-US" altLang="ko-KR"/>
              <a:t> rs1       </a:t>
            </a:r>
            <a:r>
              <a:rPr lang="ko-KR" altLang="en-US"/>
              <a:t>   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en-US" altLang="ko-KR"/>
              <a:t>funct 3        </a:t>
            </a:r>
            <a:r>
              <a:rPr lang="ko-KR" altLang="en-US"/>
              <a:t>     </a:t>
            </a:r>
            <a:r>
              <a:rPr lang="en-US" altLang="ko-KR"/>
              <a:t>rd            </a:t>
            </a:r>
            <a:r>
              <a:rPr lang="ko-KR" altLang="en-US"/>
              <a:t>      </a:t>
            </a:r>
            <a:r>
              <a:rPr lang="en-US" altLang="ko-KR"/>
              <a:t>    opcode	  operation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355678" y="595106"/>
            <a:ext cx="7534064" cy="28338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70000" lvl="0" indent="-370000" algn="l">
              <a:buFont typeface="Arial"/>
              <a:buChar char="•"/>
              <a:defRPr/>
            </a:pP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R-Type</a:t>
            </a:r>
            <a:r>
              <a:rPr lang="en-US" altLang="ko-KR"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은</a:t>
            </a:r>
            <a:r>
              <a:rPr lang="en-US" altLang="ko-KR"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두 레지스터 값을 이용한 산술/논리 연산을 수행</a:t>
            </a:r>
          </a:p>
          <a:p>
            <a:pPr marL="370000" lvl="0" indent="-370000" algn="l">
              <a:buFont typeface="Arial"/>
              <a:buChar char="•"/>
              <a:defRPr/>
            </a:pPr>
            <a:endParaRPr sz="20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370000" lvl="0" indent="-370000" algn="l">
              <a:buFont typeface="Arial"/>
              <a:buChar char="•"/>
              <a:defRPr/>
            </a:pP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rs1, rs2 값을 Register File에서 읽음</a:t>
            </a:r>
          </a:p>
          <a:p>
            <a:pPr marL="370000" lvl="0" indent="-370000" algn="l">
              <a:buFont typeface="Arial"/>
              <a:buChar char="•"/>
              <a:defRPr/>
            </a:pPr>
            <a:endParaRPr sz="20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370000" lvl="0" indent="-370000" algn="l">
              <a:buFont typeface="Arial"/>
              <a:buChar char="•"/>
              <a:defRPr/>
            </a:pP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두 값을 ALU 입력으로 전달</a:t>
            </a:r>
          </a:p>
          <a:p>
            <a:pPr marL="370000" lvl="0" indent="-370000" algn="l">
              <a:buFont typeface="Arial"/>
              <a:buChar char="•"/>
              <a:defRPr/>
            </a:pPr>
            <a:endParaRPr sz="20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370000" lvl="0" indent="-370000" algn="l">
              <a:buFont typeface="Arial"/>
              <a:buChar char="•"/>
              <a:defRPr/>
            </a:pP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funct3, funct7에 따라 연산 종류 결정</a:t>
            </a:r>
          </a:p>
          <a:p>
            <a:pPr marL="370000" lvl="0" indent="-370000" algn="l">
              <a:buFont typeface="Arial"/>
              <a:buChar char="•"/>
              <a:defRPr/>
            </a:pPr>
            <a:endParaRPr sz="2000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370000" lvl="0" indent="-370000" algn="l">
              <a:buFont typeface="Arial"/>
              <a:buChar char="•"/>
              <a:defRPr/>
            </a:pP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 결과를 rd에 write back</a:t>
            </a:r>
          </a:p>
        </p:txBody>
      </p:sp>
      <p:sp>
        <p:nvSpPr>
          <p:cNvPr id="20" name="직사각형 19"/>
          <p:cNvSpPr/>
          <p:nvPr/>
        </p:nvSpPr>
        <p:spPr>
          <a:xfrm flipV="1">
            <a:off x="0" y="64803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4962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620" y="198188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R Type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3" y="6494680"/>
            <a:ext cx="11889104" cy="363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 =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funct3/funct7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 = 0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846618" y="2532695"/>
            <a:ext cx="267855" cy="338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517739" y="4165970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980475" y="3340568"/>
            <a:ext cx="359061" cy="298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038564" y="4004518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55857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462829" y="1651516"/>
          <a:ext cx="9509970" cy="488924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719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2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1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lt"/>
                          <a:ea typeface="+mn-ea"/>
                        </a:rPr>
                        <a:t>Rd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Rs1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Rs2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lt"/>
                          <a:ea typeface="+mn-ea"/>
                        </a:rPr>
                        <a:t>Hex</a:t>
                      </a:r>
                      <a:r>
                        <a:rPr lang="en-US" altLang="ko-KR" sz="2400" baseline="0">
                          <a:latin typeface="+mn-lt"/>
                          <a:ea typeface="+mn-ea"/>
                        </a:rPr>
                        <a:t> Code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/>
                        <a:t>SUB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6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32'h40418333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/>
                        <a:t>SLL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7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32'h004193B3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/>
                        <a:t>SLT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8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32'h0041A433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/>
                        <a:t>SLTU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9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32'h0041B4B3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/>
                        <a:t>XOR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10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32'h0041C533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/>
                        <a:t>SRL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11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32'h0041D5B3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15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/>
                        <a:t>SRA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12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/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32'h4041D633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 Type Simulate</a:t>
            </a:r>
            <a:endParaRPr lang="ko-KR" altLang="en-US" sz="4400"/>
          </a:p>
        </p:txBody>
      </p:sp>
      <p:sp>
        <p:nvSpPr>
          <p:cNvPr id="5" name="직사각형 4"/>
          <p:cNvSpPr/>
          <p:nvPr/>
        </p:nvSpPr>
        <p:spPr>
          <a:xfrm flipV="1">
            <a:off x="604372" y="1169216"/>
            <a:ext cx="12677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6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rom 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135284" y="1486426"/>
          <a:ext cx="9339944" cy="1742658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867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6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88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Rd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Rs1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Rs2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Hex Code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88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>
                          <a:latin typeface="+mn-ea"/>
                          <a:ea typeface="+mn-ea"/>
                        </a:rPr>
                        <a:t>OR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32'h0041E6B3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88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>
                          <a:latin typeface="+mn-ea"/>
                          <a:ea typeface="+mn-ea"/>
                        </a:rPr>
                        <a:t>AND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32'h0041F733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 Type Simulate</a:t>
            </a:r>
            <a:endParaRPr lang="ko-KR" altLang="en-US" sz="4400"/>
          </a:p>
        </p:txBody>
      </p:sp>
      <p:sp>
        <p:nvSpPr>
          <p:cNvPr id="4" name="TextBox 3"/>
          <p:cNvSpPr txBox="1"/>
          <p:nvPr/>
        </p:nvSpPr>
        <p:spPr>
          <a:xfrm>
            <a:off x="5001208" y="3918857"/>
            <a:ext cx="657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Rom Code rd, rs1, rs2 </a:t>
            </a:r>
            <a:r>
              <a:rPr lang="ko-KR" altLang="en-US"/>
              <a:t>값을 다음 과 같이 고정해 순차적으로 실행하는 </a:t>
            </a:r>
            <a:r>
              <a:rPr lang="en-US" altLang="ko-KR"/>
              <a:t>simulate</a:t>
            </a:r>
            <a:r>
              <a:rPr lang="ko-KR" altLang="en-US"/>
              <a:t>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4442" y="3394180"/>
            <a:ext cx="4001058" cy="344853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 flipV="1">
            <a:off x="604372" y="1169216"/>
            <a:ext cx="12677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7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rom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69907" y="2682655"/>
            <a:ext cx="8583223" cy="365811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 Type Simulate</a:t>
            </a:r>
            <a:endParaRPr lang="ko-KR" altLang="en-US" sz="4400"/>
          </a:p>
        </p:txBody>
      </p:sp>
      <p:sp>
        <p:nvSpPr>
          <p:cNvPr id="4" name="TextBox 3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Control Unit</a:t>
            </a:r>
            <a:endParaRPr lang="ko-KR" altLang="en-US" sz="2400"/>
          </a:p>
        </p:txBody>
      </p:sp>
      <p:sp>
        <p:nvSpPr>
          <p:cNvPr id="5" name="직사각형 4"/>
          <p:cNvSpPr/>
          <p:nvPr/>
        </p:nvSpPr>
        <p:spPr>
          <a:xfrm>
            <a:off x="4208106" y="4376057"/>
            <a:ext cx="5038531" cy="5784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395927" y="4480640"/>
            <a:ext cx="1688841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Funct</a:t>
            </a:r>
            <a:r>
              <a:rPr lang="ko-KR" altLang="en-US"/>
              <a:t>값 입력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208105" y="3412837"/>
            <a:ext cx="5113177" cy="5784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377266" y="3412837"/>
            <a:ext cx="1688841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Pc</a:t>
            </a:r>
            <a:r>
              <a:rPr lang="ko-KR" altLang="en-US"/>
              <a:t>입력 </a:t>
            </a:r>
            <a:r>
              <a:rPr lang="en-US" altLang="ko-KR"/>
              <a:t>+4</a:t>
            </a:r>
          </a:p>
          <a:p>
            <a:pPr lvl="0">
              <a:defRPr/>
            </a:pPr>
            <a:r>
              <a:rPr lang="en-US" altLang="ko-KR"/>
              <a:t>Rom</a:t>
            </a:r>
            <a:r>
              <a:rPr lang="ko-KR" altLang="en-US"/>
              <a:t>값 출력</a:t>
            </a:r>
            <a:endParaRPr lang="en-US" altLang="ko-KR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83834" y="543216"/>
            <a:ext cx="3353268" cy="18004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44817" y="116199"/>
            <a:ext cx="4721290" cy="44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Control unit R Type Code</a:t>
            </a:r>
            <a:endParaRPr lang="ko-KR" altLang="en-US" sz="2400"/>
          </a:p>
        </p:txBody>
      </p:sp>
      <p:sp>
        <p:nvSpPr>
          <p:cNvPr id="12" name="직사각형 11"/>
          <p:cNvSpPr/>
          <p:nvPr/>
        </p:nvSpPr>
        <p:spPr>
          <a:xfrm>
            <a:off x="4208105" y="5069161"/>
            <a:ext cx="5187822" cy="306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9483013" y="4995419"/>
            <a:ext cx="130317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Write = 1</a:t>
            </a: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flipV="1">
            <a:off x="604372" y="1169216"/>
            <a:ext cx="12677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5" name="직사각형 14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 Type Simulate</a:t>
            </a:r>
            <a:endParaRPr lang="ko-KR" altLang="en-US" sz="4400"/>
          </a:p>
        </p:txBody>
      </p:sp>
      <p:sp>
        <p:nvSpPr>
          <p:cNvPr id="4" name="TextBox 3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Datapath</a:t>
            </a:r>
            <a:endParaRPr lang="ko-KR" altLang="en-US" sz="24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03764" y="2279432"/>
            <a:ext cx="8659433" cy="390579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246802" y="4264987"/>
            <a:ext cx="5113177" cy="4270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9453285" y="4264987"/>
            <a:ext cx="1894114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ra1 = 3 , ra2 = 4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483177" y="4692029"/>
            <a:ext cx="5113177" cy="2914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9758241" y="4710690"/>
            <a:ext cx="1967884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Rd</a:t>
            </a:r>
            <a:r>
              <a:rPr lang="ko-KR" altLang="en-US"/>
              <a:t>값 순차적 증가</a:t>
            </a:r>
          </a:p>
        </p:txBody>
      </p:sp>
      <p:sp>
        <p:nvSpPr>
          <p:cNvPr id="11" name="직사각형 10"/>
          <p:cNvSpPr/>
          <p:nvPr/>
        </p:nvSpPr>
        <p:spPr>
          <a:xfrm flipV="1">
            <a:off x="604372" y="1169216"/>
            <a:ext cx="12677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2" name="직사각형 11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4604" y="1637322"/>
            <a:ext cx="11830941" cy="4978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40962" y="3480317"/>
            <a:ext cx="1567544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>
                <a:latin typeface="맑은 고딕"/>
              </a:rPr>
              <a:t>ADD:  </a:t>
            </a:r>
            <a:r>
              <a:rPr lang="en-US" altLang="ko-KR" dirty="0">
                <a:latin typeface="맑은 고딕"/>
              </a:rPr>
              <a:t>3 + 4</a:t>
            </a:r>
            <a:endParaRPr lang="ko-KR" altLang="en-US" dirty="0"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3990" y="3818871"/>
            <a:ext cx="1424475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맑은 고딕"/>
              </a:rPr>
              <a:t>SUB:  </a:t>
            </a:r>
            <a:r>
              <a:rPr lang="en-US" altLang="ko-KR" sz="1600" dirty="0">
                <a:latin typeface="맑은 고딕"/>
              </a:rPr>
              <a:t>4 - 3</a:t>
            </a:r>
            <a:endParaRPr lang="ko-KR" altLang="en-US" dirty="0"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7018" y="4130758"/>
            <a:ext cx="1424475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>
                <a:latin typeface="맑은 고딕"/>
              </a:rPr>
              <a:t>SLL: </a:t>
            </a:r>
            <a:r>
              <a:rPr lang="en-US" altLang="ko-KR" dirty="0">
                <a:latin typeface="맑은 고딕"/>
              </a:rPr>
              <a:t>3 &lt;&lt; 4</a:t>
            </a:r>
            <a:endParaRPr lang="ko-KR" altLang="en-US" dirty="0"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0045" y="4449813"/>
            <a:ext cx="1511011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맑은 고딕"/>
              </a:rPr>
              <a:t>SLT: </a:t>
            </a:r>
            <a:r>
              <a:rPr lang="en-US" altLang="ko-KR" sz="1600" dirty="0">
                <a:latin typeface="맑은 고딕"/>
              </a:rPr>
              <a:t>(3&lt;4)?1:0</a:t>
            </a:r>
            <a:endParaRPr lang="ko-KR" altLang="en-US" dirty="0"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8194" y="4761700"/>
            <a:ext cx="179459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>
                <a:latin typeface="맑은 고딕"/>
              </a:rPr>
              <a:t>SLTU: </a:t>
            </a:r>
            <a:r>
              <a:rPr lang="en-US" altLang="ko-KR" dirty="0">
                <a:latin typeface="맑은 고딕"/>
              </a:rPr>
              <a:t>(3&lt;4)?1:0</a:t>
            </a:r>
            <a:endParaRPr lang="ko-KR" altLang="en-US" dirty="0"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93899" y="5104416"/>
            <a:ext cx="1474240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맑은 고딕"/>
              </a:rPr>
              <a:t>XOR: 3 ^ 4</a:t>
            </a:r>
            <a:endParaRPr lang="ko-KR" altLang="en-US" dirty="0"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26890" y="5442970"/>
            <a:ext cx="1437192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맑은 고딕"/>
              </a:rPr>
              <a:t>SRL: </a:t>
            </a:r>
            <a:r>
              <a:rPr lang="en-US" altLang="ko-KR" sz="1600" dirty="0">
                <a:latin typeface="맑은 고딕"/>
              </a:rPr>
              <a:t>3 &gt;&gt; 4</a:t>
            </a:r>
            <a:endParaRPr lang="ko-KR" altLang="en-US" dirty="0"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35075" y="5735358"/>
            <a:ext cx="1517506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맑은 고딕"/>
              </a:rPr>
              <a:t>SRA: </a:t>
            </a:r>
            <a:r>
              <a:rPr lang="en-US" altLang="ko-KR" sz="1600" dirty="0">
                <a:latin typeface="맑은 고딕"/>
              </a:rPr>
              <a:t>3 &gt;&gt; 4</a:t>
            </a:r>
            <a:endParaRPr lang="ko-KR" altLang="en-US" dirty="0"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68065" y="6027746"/>
            <a:ext cx="1284516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맑은 고딕"/>
              </a:rPr>
              <a:t>OR: </a:t>
            </a:r>
            <a:r>
              <a:rPr lang="en-US" altLang="ko-KR" sz="1600" dirty="0">
                <a:latin typeface="맑은 고딕"/>
              </a:rPr>
              <a:t>3 | 4</a:t>
            </a:r>
            <a:endParaRPr lang="ko-KR" altLang="en-US" dirty="0"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01056" y="6351652"/>
            <a:ext cx="1284516" cy="33855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맑은 고딕"/>
              </a:rPr>
              <a:t>AND: </a:t>
            </a:r>
            <a:r>
              <a:rPr lang="en-US" altLang="ko-KR" sz="1600" dirty="0">
                <a:latin typeface="맑은 고딕"/>
              </a:rPr>
              <a:t>3 &amp; 4</a:t>
            </a:r>
            <a:endParaRPr lang="ko-KR" altLang="en-US" dirty="0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8077199" y="3483805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8292216" y="3826521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8570166" y="4169237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864082" y="4480807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89984" y="4761700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9352657" y="5043985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9657045" y="5347945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9972591" y="5677714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0228911" y="5981674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0485231" y="6285634"/>
            <a:ext cx="1364829" cy="304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7" name="TextBox 1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 Type Simulate</a:t>
            </a:r>
            <a:endParaRPr lang="ko-KR" altLang="en-US" sz="4400"/>
          </a:p>
        </p:txBody>
      </p:sp>
      <p:sp>
        <p:nvSpPr>
          <p:cNvPr id="28" name="직사각형 27"/>
          <p:cNvSpPr/>
          <p:nvPr/>
        </p:nvSpPr>
        <p:spPr>
          <a:xfrm flipV="1">
            <a:off x="604372" y="1194615"/>
            <a:ext cx="907921" cy="1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9" name="TextBox 3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</a:t>
            </a:r>
            <a:r>
              <a:rPr lang="en-US" altLang="ko-KR" sz="2400" smtClean="0"/>
              <a:t>Case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 Type Simulate</a:t>
            </a:r>
            <a:endParaRPr lang="ko-KR" altLang="en-US" sz="440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03070"/>
              </p:ext>
            </p:extLst>
          </p:nvPr>
        </p:nvGraphicFramePr>
        <p:xfrm>
          <a:off x="1512293" y="2297112"/>
          <a:ext cx="9339944" cy="1742658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867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6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88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Rd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Rs1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Rs2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>
                          <a:latin typeface="+mn-ea"/>
                          <a:ea typeface="+mn-ea"/>
                        </a:rPr>
                        <a:t>Hex Code</a:t>
                      </a:r>
                      <a:endParaRPr lang="ko-KR" altLang="en-US" sz="240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88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>
                          <a:latin typeface="+mn-ea"/>
                          <a:ea typeface="+mn-ea"/>
                        </a:rPr>
                        <a:t>SLTU</a:t>
                      </a:r>
                      <a:endParaRPr lang="ko-KR" altLang="en-US" sz="2400" b="1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x3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x15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x2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b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32'h0027B1B3</a:t>
                      </a:r>
                      <a:endParaRPr lang="en-US" altLang="ko-KR" sz="24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88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b="1" dirty="0" smtClean="0">
                          <a:latin typeface="+mn-ea"/>
                          <a:ea typeface="+mn-ea"/>
                        </a:rPr>
                        <a:t>SLA</a:t>
                      </a:r>
                      <a:endParaRPr lang="ko-KR" altLang="en-US" sz="2400" b="1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x4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x15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400" dirty="0" smtClean="0">
                          <a:latin typeface="+mn-ea"/>
                          <a:ea typeface="+mn-ea"/>
                        </a:rPr>
                        <a:t>x8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32'h4087D233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Coner Case</a:t>
            </a:r>
            <a:endParaRPr lang="ko-KR" altLang="en-US" sz="2400"/>
          </a:p>
        </p:txBody>
      </p:sp>
      <p:sp>
        <p:nvSpPr>
          <p:cNvPr id="6" name="직사각형 5"/>
          <p:cNvSpPr/>
          <p:nvPr/>
        </p:nvSpPr>
        <p:spPr>
          <a:xfrm flipV="1">
            <a:off x="604372" y="1194615"/>
            <a:ext cx="907921" cy="1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8" name="직사각형 7"/>
          <p:cNvSpPr/>
          <p:nvPr/>
        </p:nvSpPr>
        <p:spPr>
          <a:xfrm>
            <a:off x="1606608" y="4330228"/>
            <a:ext cx="4410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 err="1"/>
              <a:t>register_file</a:t>
            </a:r>
            <a:r>
              <a:rPr lang="ko-KR" altLang="en-US" sz="2400" dirty="0"/>
              <a:t>[15] = 32'hA1B2C3D4;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 Type Simulate</a:t>
            </a:r>
            <a:endParaRPr lang="ko-KR" altLang="en-US" sz="4400"/>
          </a:p>
        </p:txBody>
      </p:sp>
      <p:sp>
        <p:nvSpPr>
          <p:cNvPr id="4" name="TextBox 3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Coner Case register file</a:t>
            </a:r>
            <a:endParaRPr lang="ko-KR" altLang="en-US" sz="2400"/>
          </a:p>
        </p:txBody>
      </p:sp>
      <p:sp>
        <p:nvSpPr>
          <p:cNvPr id="7" name="직사각형 6"/>
          <p:cNvSpPr/>
          <p:nvPr/>
        </p:nvSpPr>
        <p:spPr>
          <a:xfrm flipV="1">
            <a:off x="604372" y="1194615"/>
            <a:ext cx="907921" cy="1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94" y="1755414"/>
            <a:ext cx="5514493" cy="43188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634" y="3470856"/>
            <a:ext cx="7563906" cy="52394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rcRect l="1229" t="8183" r="11672" b="-15790"/>
          <a:stretch/>
        </p:blipFill>
        <p:spPr>
          <a:xfrm>
            <a:off x="4292081" y="3994804"/>
            <a:ext cx="7567127" cy="297277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2" name="직사각형 11"/>
          <p:cNvSpPr/>
          <p:nvPr/>
        </p:nvSpPr>
        <p:spPr>
          <a:xfrm>
            <a:off x="9710057" y="4049386"/>
            <a:ext cx="1421363" cy="2333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007290" y="4783045"/>
            <a:ext cx="449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A1b2c3d4 		      ffa1b2c3</a:t>
            </a:r>
            <a:endParaRPr lang="ko-KR" altLang="en-US" sz="2000" dirty="0"/>
          </a:p>
        </p:txBody>
      </p:sp>
      <p:sp>
        <p:nvSpPr>
          <p:cNvPr id="14" name="오른쪽 화살표 13"/>
          <p:cNvSpPr/>
          <p:nvPr/>
        </p:nvSpPr>
        <p:spPr>
          <a:xfrm>
            <a:off x="8301134" y="4362794"/>
            <a:ext cx="1645299" cy="1202346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8 &gt;&gt;</a:t>
            </a:r>
            <a:endParaRPr lang="ko-KR" altLang="en-US" sz="2000" dirty="0"/>
          </a:p>
        </p:txBody>
      </p:sp>
      <p:sp>
        <p:nvSpPr>
          <p:cNvPr id="15" name="직사각형 14"/>
          <p:cNvSpPr/>
          <p:nvPr/>
        </p:nvSpPr>
        <p:spPr>
          <a:xfrm>
            <a:off x="10420738" y="3766106"/>
            <a:ext cx="1421363" cy="2333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0245013" y="3512472"/>
            <a:ext cx="1421363" cy="2333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8857994" y="2978853"/>
            <a:ext cx="28135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 smtClean="0"/>
              <a:t>(A1b2c3d4 &lt; 2) ? 1 : 0 = 0</a:t>
            </a:r>
          </a:p>
          <a:p>
            <a:r>
              <a:rPr lang="en-US" altLang="ko-KR" sz="2000" dirty="0" smtClean="0"/>
              <a:t> </a:t>
            </a:r>
            <a:endParaRPr lang="ko-KR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9123783" y="2686242"/>
            <a:ext cx="12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음수</a:t>
            </a:r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8659" y="4598461"/>
            <a:ext cx="10994681" cy="88659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404122" y="1927033"/>
            <a:ext cx="7164290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S-</a:t>
            </a:r>
            <a:r>
              <a:rPr b="0" i="0" strike="noStrike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Type은</a:t>
            </a:r>
            <a:r>
              <a:rPr 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레지스터의</a:t>
            </a:r>
            <a:r>
              <a:rPr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데이터를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메모리에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저장하는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명령어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타입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rs1과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immediate를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이용해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저장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주소를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계산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rs2의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값을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해당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메모리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주소에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저장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7693" y="4176219"/>
            <a:ext cx="9606723" cy="36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imm[11:5]             </a:t>
            </a:r>
            <a:r>
              <a:rPr lang="ko-KR" altLang="en-US"/>
              <a:t>  </a:t>
            </a:r>
            <a:r>
              <a:rPr lang="en-US" altLang="ko-KR"/>
              <a:t>rs2        </a:t>
            </a:r>
            <a:r>
              <a:rPr lang="ko-KR" altLang="en-US"/>
              <a:t>    </a:t>
            </a:r>
            <a:r>
              <a:rPr lang="en-US" altLang="ko-KR"/>
              <a:t>       rs1       </a:t>
            </a:r>
            <a:r>
              <a:rPr lang="ko-KR" altLang="en-US"/>
              <a:t>  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en-US" altLang="ko-KR"/>
              <a:t>funct 3      imm[4:0]            </a:t>
            </a:r>
            <a:r>
              <a:rPr lang="ko-KR" altLang="en-US"/>
              <a:t>    </a:t>
            </a:r>
            <a:r>
              <a:rPr lang="en-US" altLang="ko-KR"/>
              <a:t>    opcode          operation	   </a:t>
            </a:r>
            <a:r>
              <a:rPr lang="ko-KR" altLang="en-US"/>
              <a:t>     </a:t>
            </a:r>
            <a:endParaRPr lang="en-US" altLang="ko-KR"/>
          </a:p>
        </p:txBody>
      </p:sp>
      <p:sp>
        <p:nvSpPr>
          <p:cNvPr id="8" name="직사각형 7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9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 Type</a:t>
            </a:r>
          </a:p>
        </p:txBody>
      </p:sp>
      <p:sp>
        <p:nvSpPr>
          <p:cNvPr id="11" name="직사각형 10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13" y="183151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 Type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3" y="6494680"/>
            <a:ext cx="11889104" cy="363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0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0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0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0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682191" y="2836360"/>
            <a:ext cx="436132" cy="294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627831" y="3580521"/>
            <a:ext cx="262496" cy="234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406903" y="4165970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947163" y="4004518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60399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44290"/>
              </p:ext>
            </p:extLst>
          </p:nvPr>
        </p:nvGraphicFramePr>
        <p:xfrm>
          <a:off x="1707501" y="1150232"/>
          <a:ext cx="10058398" cy="5319435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1137160">
                  <a:extLst>
                    <a:ext uri="{9D8B030D-6E8A-4147-A177-3AD203B41FA5}">
                      <a16:colId xmlns:a16="http://schemas.microsoft.com/office/drawing/2014/main" val="1298436124"/>
                    </a:ext>
                  </a:extLst>
                </a:gridCol>
                <a:gridCol w="2556502">
                  <a:extLst>
                    <a:ext uri="{9D8B030D-6E8A-4147-A177-3AD203B41FA5}">
                      <a16:colId xmlns:a16="http://schemas.microsoft.com/office/drawing/2014/main" val="1078197080"/>
                    </a:ext>
                  </a:extLst>
                </a:gridCol>
                <a:gridCol w="3440471">
                  <a:extLst>
                    <a:ext uri="{9D8B030D-6E8A-4147-A177-3AD203B41FA5}">
                      <a16:colId xmlns:a16="http://schemas.microsoft.com/office/drawing/2014/main" val="1398177842"/>
                    </a:ext>
                  </a:extLst>
                </a:gridCol>
                <a:gridCol w="2924265">
                  <a:extLst>
                    <a:ext uri="{9D8B030D-6E8A-4147-A177-3AD203B41FA5}">
                      <a16:colId xmlns:a16="http://schemas.microsoft.com/office/drawing/2014/main" val="1729286876"/>
                    </a:ext>
                  </a:extLst>
                </a:gridCol>
              </a:tblGrid>
              <a:tr h="524764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Check Point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Expected / Observed Result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2516712081"/>
                  </a:ext>
                </a:extLst>
              </a:tr>
              <a:tr h="6849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SW x2, 32(x8)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daddr, dwdata, dwe, dmem[10]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dmem[10] = 32'h00000002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2437219122"/>
                  </a:ext>
                </a:extLst>
              </a:tr>
              <a:tr h="6849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SB x7, 6(x2)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daddr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[1:0]=2'b00, 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dwdata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[7:0]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dmem[2][7:0] = 8'h07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2935240114"/>
                  </a:ext>
                </a:extLst>
              </a:tr>
              <a:tr h="6849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SB x7, 11(x2)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daddr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[1:0]=2'b01, 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dwdata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[7:0]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dmem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[3][15:8] = 8'h07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4138392259"/>
                  </a:ext>
                </a:extLst>
              </a:tr>
              <a:tr h="6849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SB x7, 16(x2)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daddr[1:0]=2'b10, dwdata[7:0]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dmem[4][23:16] = 8'h07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875074341"/>
                  </a:ext>
                </a:extLst>
              </a:tr>
              <a:tr h="6849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SB x7, 21(x2)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daddr[1:0]=2'b11, dwdata[7:0]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dmem[5][31:24] = 8'h07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2641600766"/>
                  </a:ext>
                </a:extLst>
              </a:tr>
              <a:tr h="6849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SH x7, 22(x2)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daddr[1]=1'b0, dwdata[15:0]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dmem[6][15:0] = 16'h0007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632615819"/>
                  </a:ext>
                </a:extLst>
              </a:tr>
              <a:tr h="68495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altLang="ko-KR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SH x7, 28(x2)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daddr[1]=1'b1, dwdata[15:0]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dmem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[7][31:16] = 16'h0007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921" marR="18921" marT="18921" marB="18921" anchor="ctr"/>
                </a:tc>
                <a:extLst>
                  <a:ext uri="{0D108BD9-81ED-4DB2-BD59-A6C34878D82A}">
                    <a16:rowId xmlns:a16="http://schemas.microsoft.com/office/drawing/2014/main" val="972828435"/>
                  </a:ext>
                </a:extLst>
              </a:tr>
            </a:tbl>
          </a:graphicData>
        </a:graphic>
      </p:graphicFrame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S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2" name="직사각형 11"/>
          <p:cNvSpPr/>
          <p:nvPr/>
        </p:nvSpPr>
        <p:spPr>
          <a:xfrm>
            <a:off x="3017376" y="340686"/>
            <a:ext cx="7811824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0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Simulation Check</a:t>
            </a:r>
          </a:p>
          <a:p>
            <a:pPr lvl="0" algn="l">
              <a:defRPr/>
            </a:pP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주소 계산 확인</a:t>
            </a: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 </a:t>
            </a: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메모리 write 확인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 </a:t>
            </a: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저장 데이터 확인</a:t>
            </a:r>
            <a:r>
              <a:rPr lang="en-US" sz="1600" b="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</a:t>
            </a:r>
            <a:r>
              <a:rPr sz="1600" b="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write back 없음 확인</a:t>
            </a:r>
          </a:p>
        </p:txBody>
      </p:sp>
    </p:spTree>
    <p:extLst>
      <p:ext uri="{BB962C8B-B14F-4D97-AF65-F5344CB8AC3E}">
        <p14:creationId xmlns:p14="http://schemas.microsoft.com/office/powerpoint/2010/main" val="90794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S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/>
              <a:t>- </a:t>
            </a:r>
            <a:r>
              <a:rPr lang="en-US" altLang="ko-KR" sz="2400" dirty="0" smtClean="0"/>
              <a:t>Simulate</a:t>
            </a:r>
            <a:endParaRPr lang="en-US" altLang="ko-KR" sz="2400" dirty="0"/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71284" y="1014075"/>
            <a:ext cx="6849430" cy="4829849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8" name="직사각형 17"/>
          <p:cNvSpPr/>
          <p:nvPr/>
        </p:nvSpPr>
        <p:spPr>
          <a:xfrm>
            <a:off x="5165927" y="4835577"/>
            <a:ext cx="4593532" cy="1154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99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S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/>
              <a:t>- </a:t>
            </a:r>
            <a:r>
              <a:rPr lang="en-US" altLang="ko-KR" sz="2400" dirty="0" smtClean="0"/>
              <a:t>Simulate SW</a:t>
            </a:r>
            <a:endParaRPr lang="en-US" altLang="ko-KR" sz="2400" dirty="0"/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72" y="1929094"/>
            <a:ext cx="8079016" cy="422135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6945852" y="5773377"/>
            <a:ext cx="2778070" cy="34863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265" y="626611"/>
            <a:ext cx="9563878" cy="127405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7301203" y="1391923"/>
            <a:ext cx="4781939" cy="34863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078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1681409"/>
            <a:ext cx="10031225" cy="491558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7484701" y="4411107"/>
            <a:ext cx="3021568" cy="98198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9069355" y="4411107"/>
            <a:ext cx="709127" cy="2262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8885853" y="4675893"/>
            <a:ext cx="709127" cy="2262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8709552" y="4904492"/>
            <a:ext cx="709127" cy="2262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/>
          <a:srcRect l="4000"/>
          <a:stretch>
            <a:fillRect/>
          </a:stretch>
        </p:blipFill>
        <p:spPr>
          <a:xfrm>
            <a:off x="2115598" y="425829"/>
            <a:ext cx="10060282" cy="1819528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8443139" y="5128632"/>
            <a:ext cx="709127" cy="2262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187815" y="2568963"/>
            <a:ext cx="1943463" cy="98198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5135689" y="1750224"/>
            <a:ext cx="7113461" cy="6261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S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9575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 SB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115050" y="1991727"/>
            <a:ext cx="311380" cy="15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7974697" y="1987120"/>
            <a:ext cx="311380" cy="15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895398" y="1989006"/>
            <a:ext cx="311380" cy="15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1787524" y="1997587"/>
            <a:ext cx="311380" cy="15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137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S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/>
              <a:t>- </a:t>
            </a:r>
            <a:r>
              <a:rPr lang="en-US" altLang="ko-KR" sz="2400" dirty="0" smtClean="0"/>
              <a:t>Simulate SH</a:t>
            </a:r>
            <a:endParaRPr lang="en-US" altLang="ko-KR" sz="2400" dirty="0"/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1681409"/>
            <a:ext cx="10031225" cy="491558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630238" y="5310535"/>
            <a:ext cx="2342562" cy="5397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651944" y="5354208"/>
            <a:ext cx="1031607" cy="2721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927266" y="5602252"/>
            <a:ext cx="1031607" cy="2721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81659" y="181264"/>
            <a:ext cx="7763958" cy="1848107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7082347" y="2639107"/>
            <a:ext cx="1043299" cy="98198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7192880" y="1504062"/>
            <a:ext cx="3827528" cy="72031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861180" y="1772861"/>
            <a:ext cx="311380" cy="15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737814" y="1769198"/>
            <a:ext cx="311380" cy="15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264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9487" y="4205219"/>
            <a:ext cx="10933025" cy="1205716"/>
          </a:xfrm>
          <a:prstGeom prst="rect">
            <a:avLst/>
          </a:prstGeom>
        </p:spPr>
      </p:pic>
      <p:sp>
        <p:nvSpPr>
          <p:cNvPr id="5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6" name="직사각형 5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7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IL Type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205659" y="1670957"/>
            <a:ext cx="8058401" cy="14628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IL-Type은메모리에서 데이터를 읽어 레지스터에 저장하는 명령어 타입</a:t>
            </a: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rs1과 immediate를 이용해 메모리 주소를 계</a:t>
            </a:r>
            <a:r>
              <a:rPr lang="ko-KR" altLang="en-US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산</a:t>
            </a:r>
          </a:p>
          <a:p>
            <a:pPr marL="257040" lvl="0" indent="-257040" algn="l">
              <a:buFont typeface="Arial"/>
              <a:buChar char="•"/>
              <a:defRPr/>
            </a:pPr>
            <a:endParaRPr lang="ko-KR" altLang="en-US"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계산된 주소의 데이터를 읽어rd에 저장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1520411" y="3791800"/>
            <a:ext cx="9606723" cy="35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imm[11:0]             </a:t>
            </a:r>
            <a:r>
              <a:rPr lang="ko-KR" altLang="en-US"/>
              <a:t>      </a:t>
            </a:r>
            <a:r>
              <a:rPr lang="en-US" altLang="ko-KR"/>
              <a:t>       rs1       </a:t>
            </a:r>
            <a:r>
              <a:rPr lang="ko-KR" altLang="en-US"/>
              <a:t>  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en-US" altLang="ko-KR"/>
              <a:t>funct 3       </a:t>
            </a:r>
            <a:r>
              <a:rPr lang="ko-KR" altLang="en-US"/>
              <a:t>  </a:t>
            </a:r>
            <a:r>
              <a:rPr lang="en-US" altLang="ko-KR"/>
              <a:t>rd            </a:t>
            </a:r>
            <a:r>
              <a:rPr lang="ko-KR" altLang="en-US"/>
              <a:t>    </a:t>
            </a:r>
            <a:r>
              <a:rPr lang="en-US" altLang="ko-KR"/>
              <a:t>    opcode	   </a:t>
            </a:r>
            <a:r>
              <a:rPr lang="ko-KR" altLang="en-US"/>
              <a:t>     </a:t>
            </a:r>
            <a:r>
              <a:rPr lang="en-US" altLang="ko-KR"/>
              <a:t> operation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13" y="183151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IL Type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3" y="6494680"/>
            <a:ext cx="11889104" cy="363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 =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0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 = 0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697008" y="2836360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568211" y="3551665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406903" y="4165970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916469" y="4004518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79185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1923159" y="1278108"/>
          <a:ext cx="10103998" cy="4869030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57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6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3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ROM Code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Check Point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Expected Result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274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SW x12, 30(x10)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252D23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daddr, dwdata, dwe, dmem[word]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dmem[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] = x12[31:0]</a:t>
                      </a:r>
                    </a:p>
                  </a:txBody>
                  <a:tcPr marL="13036" marR="13036" marT="13036" marB="1303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199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LB x5, 30(x10)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32'h01E50283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daddr[1:0], drdata, rf_we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x5 = sign-extend(selected byte)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82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LH x6, 30(x10)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32'h01E51303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daddr[1], drdata, rf_we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x6 = sign-extend(selected halfword)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726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LW x7, 30(x10)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32'h01E52383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daddr, drdata, rf_we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x7 = dmem[(x10+30)&gt;&gt;2]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274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LBU x8, 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(x10)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32'h01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54403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daddr[1:0], drdata, rf_we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x8 = zero-extend(selected byte)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9104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LHU x9, 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(x10)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32'h01</a:t>
                      </a:r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55483</a:t>
                      </a: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daddr[1], drdata, rf_we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x9 = zero-extend(selected halfword)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036" marR="13036" marT="13036" marB="1303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2453467" y="245701"/>
            <a:ext cx="841669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40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Simulation Check</a:t>
            </a:r>
          </a:p>
          <a:p>
            <a:pPr lvl="0" algn="l">
              <a:defRPr/>
            </a:pP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n-ea"/>
              </a:rPr>
              <a:t>주소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n-ea"/>
              </a:rPr>
              <a:t>계산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확인</a:t>
            </a:r>
            <a:r>
              <a:rPr lang="en-US" sz="1600" b="0" i="0" strike="noStrike" dirty="0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,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lang="en-US" sz="1600" dirty="0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메모리</a:t>
            </a:r>
            <a:r>
              <a:rPr sz="1600" b="0" i="0" strike="noStrike" dirty="0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n-ea"/>
              </a:rPr>
              <a:t>read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확인</a:t>
            </a:r>
            <a:r>
              <a:rPr lang="en-US" sz="1600" dirty="0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,  </a:t>
            </a:r>
            <a:r>
              <a:rPr sz="1600" b="0" i="0" strike="noStrike" dirty="0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sign 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n-ea"/>
              </a:rPr>
              <a:t>/ zero extension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확인</a:t>
            </a:r>
            <a:r>
              <a:rPr lang="en-US" sz="1600" dirty="0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, 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rdwrite</a:t>
            </a:r>
            <a:r>
              <a:rPr sz="1600" b="0" i="0" strike="noStrike" dirty="0" smtClean="0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n-ea"/>
              </a:rPr>
              <a:t>back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n-ea"/>
              </a:rPr>
              <a:t>확인</a:t>
            </a:r>
            <a:endParaRPr sz="1600" b="0" i="0" strike="noStrike" dirty="0">
              <a:solidFill>
                <a:srgbClr val="000000">
                  <a:alpha val="100000"/>
                </a:srgb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4619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28416" y="1004549"/>
            <a:ext cx="6935167" cy="484890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1" name="직사각형 10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0" name="직사각형 9"/>
          <p:cNvSpPr/>
          <p:nvPr/>
        </p:nvSpPr>
        <p:spPr>
          <a:xfrm>
            <a:off x="6836717" y="4290213"/>
            <a:ext cx="2887156" cy="431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123474" y="4873018"/>
            <a:ext cx="4432927" cy="431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832111" y="5366215"/>
            <a:ext cx="2887156" cy="431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510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2098" y="1918700"/>
            <a:ext cx="9512487" cy="376372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1" name="직사각형 10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0" name="직사각형 9"/>
          <p:cNvSpPr/>
          <p:nvPr/>
        </p:nvSpPr>
        <p:spPr>
          <a:xfrm>
            <a:off x="7652130" y="3698627"/>
            <a:ext cx="2178029" cy="300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907167" y="3971262"/>
            <a:ext cx="2178029" cy="300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191478" y="4215571"/>
            <a:ext cx="2178029" cy="278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384531" y="4438236"/>
            <a:ext cx="2178029" cy="300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8577585" y="4699160"/>
            <a:ext cx="2178029" cy="300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0085195" y="3513961"/>
            <a:ext cx="82041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LB[0:7]</a:t>
            </a: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0227444" y="3843298"/>
            <a:ext cx="93319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LH[0:15]</a:t>
            </a: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0424788" y="4133773"/>
            <a:ext cx="1056889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LW[0:31]</a:t>
            </a: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611732" y="4413051"/>
            <a:ext cx="1165414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LBU[0:7]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0749503" y="4706420"/>
            <a:ext cx="121458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LHU[0:15]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633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2" name="직사각형 11"/>
          <p:cNvSpPr/>
          <p:nvPr/>
        </p:nvSpPr>
        <p:spPr>
          <a:xfrm>
            <a:off x="2509451" y="385600"/>
            <a:ext cx="8416696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40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Simulation Check</a:t>
            </a:r>
          </a:p>
          <a:p>
            <a:pPr lvl="0">
              <a:defRPr/>
            </a:pPr>
            <a:r>
              <a:rPr lang="ko-KR" altLang="en-US" dirty="0"/>
              <a:t>주소 계산 확인</a:t>
            </a:r>
            <a:r>
              <a:rPr lang="en-US" altLang="ko-KR" dirty="0"/>
              <a:t>, LB/LH</a:t>
            </a:r>
            <a:r>
              <a:rPr lang="ko-KR" altLang="en-US" dirty="0"/>
              <a:t>의 </a:t>
            </a:r>
            <a:r>
              <a:rPr lang="ko-KR" altLang="en-US" dirty="0" err="1"/>
              <a:t>비정렬</a:t>
            </a:r>
            <a:r>
              <a:rPr lang="ko-KR" altLang="en-US" dirty="0"/>
              <a:t> 주소 접근 동작 확인</a:t>
            </a:r>
            <a:r>
              <a:rPr lang="en-US" altLang="ko-KR" dirty="0"/>
              <a:t>, sign extension </a:t>
            </a:r>
            <a:r>
              <a:rPr lang="ko-KR" altLang="en-US" dirty="0"/>
              <a:t>확인</a:t>
            </a:r>
            <a:r>
              <a:rPr lang="en-US" altLang="ko-KR" dirty="0"/>
              <a:t>, register file write-back </a:t>
            </a:r>
            <a:r>
              <a:rPr lang="ko-KR" altLang="en-US" dirty="0"/>
              <a:t>확인</a:t>
            </a:r>
            <a:endParaRPr sz="1600" b="0" i="0" strike="noStrike" dirty="0">
              <a:solidFill>
                <a:srgbClr val="000000">
                  <a:alpha val="100000"/>
                </a:srgbClr>
              </a:solidFill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141133" y="1670957"/>
          <a:ext cx="8612716" cy="5089275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826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3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68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No</a:t>
                      </a:r>
                      <a:endParaRPr lang="en-US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Instruction</a:t>
                      </a:r>
                      <a:endParaRPr lang="en-US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Expected Result</a:t>
                      </a:r>
                      <a:endParaRPr lang="en-US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89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1</a:t>
                      </a:r>
                      <a:endParaRPr lang="en-US" altLang="ko-KR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SW x12, 28(x10)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dmem[(x10+28)&gt;&gt;2] = 32'hA1B2C3D4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081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2</a:t>
                      </a:r>
                      <a:endParaRPr lang="en-US" altLang="ko-KR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LB x4, 26(x10)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x4 = </a:t>
                      </a:r>
                      <a:r>
                        <a:rPr lang="en-US" altLang="ko-KR" sz="1900" kern="1200">
                          <a:solidFill>
                            <a:schemeClr val="tx1"/>
                          </a:solidFill>
                          <a:effectLst/>
                        </a:rPr>
                        <a:t>32'hFFFFFFD4</a:t>
                      </a:r>
                      <a:endParaRPr lang="en-US" altLang="ko-KR" sz="1900" kern="1200">
                        <a:solidFill>
                          <a:schemeClr val="tx1"/>
                        </a:solidFill>
                      </a:endParaRP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814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3</a:t>
                      </a:r>
                      <a:endParaRPr lang="en-US" altLang="ko-KR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LB x5, 27(x10)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x5 = </a:t>
                      </a:r>
                      <a:r>
                        <a:rPr lang="en-US" altLang="ko-KR" sz="1900" kern="1200">
                          <a:solidFill>
                            <a:schemeClr val="tx1"/>
                          </a:solidFill>
                          <a:effectLst/>
                        </a:rPr>
                        <a:t>32'hFFFFFFC3</a:t>
                      </a:r>
                      <a:endParaRPr lang="en-US" sz="1900">
                        <a:solidFill>
                          <a:schemeClr val="tx1"/>
                        </a:solidFill>
                        <a:effectLst/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512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4</a:t>
                      </a:r>
                      <a:endParaRPr lang="en-US" altLang="ko-KR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LB x6, 28(x10)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x6 = 32'hFFFFFFB2</a:t>
                      </a: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036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5</a:t>
                      </a:r>
                      <a:endParaRPr lang="en-US" altLang="ko-KR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LB x7, 29(x10)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x7 = 32'hFFFFFFA1</a:t>
                      </a: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701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6</a:t>
                      </a:r>
                      <a:endParaRPr lang="en-US" altLang="ko-KR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LH x8, 27(x10)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current implementation </a:t>
                      </a:r>
                      <a:r>
                        <a:rPr lang="ko-KR" altLang="en-US" sz="1900">
                          <a:solidFill>
                            <a:schemeClr val="tx1"/>
                          </a:solidFill>
                          <a:effectLst/>
                          <a:ea typeface="+mj-ea"/>
                          <a:cs typeface="Calibri"/>
                        </a:rPr>
                        <a:t>기준 </a:t>
                      </a: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x8 = </a:t>
                      </a:r>
                    </a:p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sign-extend(dmem[word][31:16]) 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255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900" b="1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7</a:t>
                      </a:r>
                      <a:endParaRPr lang="en-US" altLang="ko-KR" sz="1900" b="1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LH x9, 29(x10)</a:t>
                      </a:r>
                      <a:endParaRPr lang="en-US" sz="1900">
                        <a:solidFill>
                          <a:schemeClr val="tx1"/>
                        </a:solidFill>
                        <a:ea typeface="+mj-ea"/>
                      </a:endParaRPr>
                    </a:p>
                  </a:txBody>
                  <a:tcPr marL="17847" marR="17847" marT="17847" marB="17847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current implementation </a:t>
                      </a:r>
                      <a:r>
                        <a:rPr lang="ko-KR" altLang="en-US" sz="1900">
                          <a:solidFill>
                            <a:schemeClr val="tx1"/>
                          </a:solidFill>
                          <a:effectLst/>
                          <a:ea typeface="+mj-ea"/>
                          <a:cs typeface="Calibri"/>
                        </a:rPr>
                        <a:t>기준 </a:t>
                      </a: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x9 = </a:t>
                      </a:r>
                    </a:p>
                    <a:p>
                      <a:pPr lvl="0" algn="ctr"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  <a:ea typeface="+mj-ea"/>
                        </a:rPr>
                        <a:t>sign-extend(dmem[word][15:0]</a:t>
                      </a:r>
                      <a:endParaRPr lang="ko-KR" altLang="en-US" sz="1900">
                        <a:solidFill>
                          <a:schemeClr val="tx1"/>
                        </a:solidFill>
                        <a:effectLst/>
                        <a:ea typeface="+mj-ea"/>
                        <a:cs typeface="Calibri"/>
                      </a:endParaRPr>
                    </a:p>
                  </a:txBody>
                  <a:tcPr marL="17847" marR="17847" marT="17847" marB="1784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809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/>
              <a:t>- </a:t>
            </a:r>
            <a:r>
              <a:rPr lang="en-US" altLang="ko-KR" sz="2400" dirty="0" smtClean="0"/>
              <a:t>Simulate full case</a:t>
            </a:r>
            <a:endParaRPr lang="en-US" altLang="ko-KR" sz="2400" dirty="0"/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1" name="직사각형 10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717" y="832321"/>
            <a:ext cx="4698389" cy="38050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588" y="1633909"/>
            <a:ext cx="9392961" cy="480127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8698255" y="4308695"/>
            <a:ext cx="1602741" cy="925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9699740" y="5229836"/>
            <a:ext cx="1039795" cy="50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312913" y="4342153"/>
            <a:ext cx="55050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LB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739535" y="5331135"/>
            <a:ext cx="55050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LH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493259" y="2095574"/>
            <a:ext cx="3922953" cy="4143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988629" y="550506"/>
            <a:ext cx="2957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X12 </a:t>
            </a:r>
            <a:r>
              <a:rPr lang="ko-KR" altLang="en-US" dirty="0" smtClean="0"/>
              <a:t>값은 </a:t>
            </a:r>
            <a:r>
              <a:rPr lang="en-US" altLang="ko-KR" dirty="0" err="1" smtClean="0"/>
              <a:t>datapath</a:t>
            </a:r>
            <a:r>
              <a:rPr lang="ko-KR" altLang="en-US" dirty="0" smtClean="0"/>
              <a:t>에서 지정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761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298" y="3894621"/>
            <a:ext cx="11993709" cy="166811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5" name="TextBox 6"/>
          <p:cNvSpPr txBox="1"/>
          <p:nvPr/>
        </p:nvSpPr>
        <p:spPr>
          <a:xfrm>
            <a:off x="1199460" y="3346609"/>
            <a:ext cx="960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imm[11:0]             </a:t>
            </a:r>
            <a:r>
              <a:rPr lang="ko-KR" altLang="en-US"/>
              <a:t>      </a:t>
            </a:r>
            <a:r>
              <a:rPr lang="en-US" altLang="ko-KR"/>
              <a:t>      </a:t>
            </a:r>
            <a:r>
              <a:rPr lang="ko-KR" altLang="en-US"/>
              <a:t> </a:t>
            </a:r>
            <a:r>
              <a:rPr lang="en-US" altLang="ko-KR"/>
              <a:t>   rs1       </a:t>
            </a:r>
            <a:r>
              <a:rPr lang="ko-KR" altLang="en-US"/>
              <a:t>   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en-US" altLang="ko-KR"/>
              <a:t>funct 3        </a:t>
            </a:r>
            <a:r>
              <a:rPr lang="ko-KR" altLang="en-US"/>
              <a:t>     </a:t>
            </a:r>
            <a:r>
              <a:rPr lang="en-US" altLang="ko-KR"/>
              <a:t>rd            </a:t>
            </a:r>
            <a:r>
              <a:rPr lang="ko-KR" altLang="en-US"/>
              <a:t>      </a:t>
            </a:r>
            <a:r>
              <a:rPr lang="en-US" altLang="ko-KR"/>
              <a:t>    opcode	    operation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146915" y="1401263"/>
            <a:ext cx="7024728" cy="14582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57040" lvl="0" indent="-257040" algn="l">
              <a:buFont typeface="Arial"/>
              <a:buChar char="•"/>
              <a:defRPr/>
            </a:pP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I-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Type은레지스터와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즉시값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(immediate)을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이용한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연산을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수행</a:t>
            </a:r>
            <a:endParaRPr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rs1값과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immediate가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ALU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입력으로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사용</a:t>
            </a:r>
            <a:endParaRPr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결과는rd에</a:t>
            </a:r>
            <a:r>
              <a:rPr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저장</a:t>
            </a:r>
            <a:endParaRPr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I Type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13" y="183151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I Type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3" y="6494680"/>
            <a:ext cx="12114637" cy="3614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 =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funct3/funct7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or 0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 = 0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682191" y="2836360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406903" y="4165970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877069" y="4004518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554358" y="3333048"/>
            <a:ext cx="359061" cy="322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83271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 Type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7" name="직사각형 6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132085"/>
              </p:ext>
            </p:extLst>
          </p:nvPr>
        </p:nvGraphicFramePr>
        <p:xfrm>
          <a:off x="1856791" y="1289820"/>
          <a:ext cx="10217021" cy="5176278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590421">
                  <a:extLst>
                    <a:ext uri="{9D8B030D-6E8A-4147-A177-3AD203B41FA5}">
                      <a16:colId xmlns:a16="http://schemas.microsoft.com/office/drawing/2014/main" val="364968277"/>
                    </a:ext>
                  </a:extLst>
                </a:gridCol>
                <a:gridCol w="1867848">
                  <a:extLst>
                    <a:ext uri="{9D8B030D-6E8A-4147-A177-3AD203B41FA5}">
                      <a16:colId xmlns:a16="http://schemas.microsoft.com/office/drawing/2014/main" val="4214121985"/>
                    </a:ext>
                  </a:extLst>
                </a:gridCol>
                <a:gridCol w="1666695">
                  <a:extLst>
                    <a:ext uri="{9D8B030D-6E8A-4147-A177-3AD203B41FA5}">
                      <a16:colId xmlns:a16="http://schemas.microsoft.com/office/drawing/2014/main" val="1349568606"/>
                    </a:ext>
                  </a:extLst>
                </a:gridCol>
                <a:gridCol w="3764431">
                  <a:extLst>
                    <a:ext uri="{9D8B030D-6E8A-4147-A177-3AD203B41FA5}">
                      <a16:colId xmlns:a16="http://schemas.microsoft.com/office/drawing/2014/main" val="2144604700"/>
                    </a:ext>
                  </a:extLst>
                </a:gridCol>
                <a:gridCol w="2327626">
                  <a:extLst>
                    <a:ext uri="{9D8B030D-6E8A-4147-A177-3AD203B41FA5}">
                      <a16:colId xmlns:a16="http://schemas.microsoft.com/office/drawing/2014/main" val="490665412"/>
                    </a:ext>
                  </a:extLst>
                </a:gridCol>
              </a:tblGrid>
              <a:tr h="284311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ROM Code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Check Point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Expected Result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605329096"/>
                  </a:ext>
                </a:extLst>
              </a:tr>
              <a:tr h="5255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ADDI x5, x3, 4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32'h00418293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imm, alu_result, rf_we, x5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x5 = x3 +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4 = 7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3162575181"/>
                  </a:ext>
                </a:extLst>
              </a:tr>
              <a:tr h="5255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SLTI x6, x1, 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32'h0010A313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imm, signed compare, rf_we, x6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x6 = (x1 &lt; 1) ? 1 :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0 = 1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3175406248"/>
                  </a:ext>
                </a:extLst>
              </a:tr>
              <a:tr h="62510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SLTIU x7, x1, 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32'h0010B393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imm, unsigned compare, rf_we, x7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x7 = (x1 &lt; 1) ? 1 : 0 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unsigned = 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865773679"/>
                  </a:ext>
                </a:extLst>
              </a:tr>
              <a:tr h="5255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XORI x8, x3, 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32'h0031C413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imm, alu_result, rf_we, x8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x8 = x3 ^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3 = 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2792389216"/>
                  </a:ext>
                </a:extLst>
              </a:tr>
              <a:tr h="5255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ORI x9, x3, 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32'h0031E493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rs1, 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imm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, 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alu_result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, 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rf_we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, x9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`x9 = 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x3 = 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454916499"/>
                  </a:ext>
                </a:extLst>
              </a:tr>
              <a:tr h="5255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altLang="ko-KR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ANDI x10, x3, 7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32'h0071F513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imm, alu_result, rf_we, x10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x10 = x3 &amp;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7 = 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31633663"/>
                  </a:ext>
                </a:extLst>
              </a:tr>
              <a:tr h="5255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altLang="ko-KR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SLLI x11, x16, 8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32'h00881593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shamt, alu_result, rf_we, x11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x11 = x16 &lt;&lt;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8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3387068812"/>
                  </a:ext>
                </a:extLst>
              </a:tr>
              <a:tr h="5255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SRLI x12, x16,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32'h00885613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shamt, alu_result, rf_we, x12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x12 = x16 &gt;&gt; 8 logical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1314236456"/>
                  </a:ext>
                </a:extLst>
              </a:tr>
              <a:tr h="54508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altLang="ko-KR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SRAI x13, x16, 8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32'h40885693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rs1, shamt, alu_result, rf_we, x13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x13 = x16 &gt;&gt;&gt; 8 arithmetic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380" marR="12380" marT="12380" marB="12380" anchor="ctr"/>
                </a:tc>
                <a:extLst>
                  <a:ext uri="{0D108BD9-81ED-4DB2-BD59-A6C34878D82A}">
                    <a16:rowId xmlns:a16="http://schemas.microsoft.com/office/drawing/2014/main" val="14615567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2718578" y="114930"/>
            <a:ext cx="79183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000000"/>
                </a:solidFill>
                <a:latin typeface="+mj-ea"/>
                <a:ea typeface="+mj-ea"/>
              </a:rPr>
              <a:t>Simulate Check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+mj-ea"/>
                <a:ea typeface="+mj-ea"/>
              </a:rPr>
              <a:t>I-type 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</a:rPr>
              <a:t>immediate 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</a:rPr>
              <a:t>연산 확인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</a:rPr>
              <a:t>, signed/unsigned compare 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</a:rPr>
              <a:t>확인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</a:rPr>
              <a:t>, shift immediate 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</a:rPr>
              <a:t>동작 확인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</a:rPr>
              <a:t>, ALU 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</a:rPr>
              <a:t>결과 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</a:rPr>
              <a:t>write-back 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</a:rPr>
              <a:t>확인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08890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 Type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7" name="직사각형 6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9" name="직사각형 8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509906"/>
            <a:ext cx="7954485" cy="457263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271644" y="4815957"/>
            <a:ext cx="4801598" cy="250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271644" y="5066522"/>
            <a:ext cx="4801598" cy="312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0073242" y="5120912"/>
            <a:ext cx="955542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mtClean="0"/>
              <a:t>Rs1 </a:t>
            </a:r>
            <a:r>
              <a:rPr lang="ko-KR" altLang="en-US" dirty="0" smtClean="0"/>
              <a:t>값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073242" y="4743185"/>
            <a:ext cx="955542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 smtClean="0"/>
              <a:t>imm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2519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 Type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7" name="직사각형 6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9" name="직사각형 8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435" y="874573"/>
            <a:ext cx="8011643" cy="556764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56" y="234702"/>
            <a:ext cx="3194122" cy="503689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379446" y="3415004"/>
            <a:ext cx="1734938" cy="2304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121915" y="3324068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ADDI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121915" y="3599930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SLTI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123715" y="3872293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SLTIU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121915" y="4141930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XORI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121915" y="4423814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ORI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123715" y="4697904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ANDI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123715" y="4958149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SLLI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123349" y="5227837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SRLI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121915" y="5499971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SRAI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822312" y="217951"/>
            <a:ext cx="3346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X1, X16 </a:t>
            </a:r>
            <a:r>
              <a:rPr lang="ko-KR" altLang="en-US" dirty="0" smtClean="0"/>
              <a:t>값은 </a:t>
            </a:r>
            <a:r>
              <a:rPr lang="en-US" altLang="ko-KR" dirty="0" err="1" smtClean="0"/>
              <a:t>datapath</a:t>
            </a:r>
            <a:r>
              <a:rPr lang="ko-KR" altLang="en-US" dirty="0" smtClean="0"/>
              <a:t>에서 지정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836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8624" y="3919753"/>
            <a:ext cx="11623888" cy="1555878"/>
          </a:xfrm>
          <a:prstGeom prst="rect">
            <a:avLst/>
          </a:prstGeom>
        </p:spPr>
      </p:pic>
      <p:sp>
        <p:nvSpPr>
          <p:cNvPr id="5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B Type</a:t>
            </a:r>
          </a:p>
        </p:txBody>
      </p:sp>
      <p:sp>
        <p:nvSpPr>
          <p:cNvPr id="7" name="직사각형 6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8" name="TextBox 6"/>
          <p:cNvSpPr txBox="1"/>
          <p:nvPr/>
        </p:nvSpPr>
        <p:spPr>
          <a:xfrm>
            <a:off x="743916" y="3429000"/>
            <a:ext cx="960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imm[12,10:0]         rs2    </a:t>
            </a:r>
            <a:r>
              <a:rPr lang="ko-KR" altLang="en-US"/>
              <a:t>      </a:t>
            </a:r>
            <a:r>
              <a:rPr lang="en-US" altLang="ko-KR"/>
              <a:t>      </a:t>
            </a:r>
            <a:r>
              <a:rPr lang="ko-KR" altLang="en-US"/>
              <a:t> </a:t>
            </a:r>
            <a:r>
              <a:rPr lang="en-US" altLang="ko-KR"/>
              <a:t>  rs1       </a:t>
            </a:r>
            <a:r>
              <a:rPr lang="ko-KR" altLang="en-US"/>
              <a:t>  </a:t>
            </a:r>
            <a:r>
              <a:rPr lang="en-US" altLang="ko-KR"/>
              <a:t> </a:t>
            </a:r>
            <a:r>
              <a:rPr lang="ko-KR" altLang="en-US"/>
              <a:t> </a:t>
            </a:r>
            <a:r>
              <a:rPr lang="en-US" altLang="ko-KR"/>
              <a:t>funct 3     imm[4:1, 11]        </a:t>
            </a:r>
            <a:r>
              <a:rPr lang="ko-KR" altLang="en-US"/>
              <a:t> </a:t>
            </a:r>
            <a:r>
              <a:rPr lang="en-US" altLang="ko-KR"/>
              <a:t>  opcode         operation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541600" y="1550317"/>
            <a:ext cx="8164829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B-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Type은두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값을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비교하여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분기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여부를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결정하는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명령어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타입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lang="en-US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s1과</a:t>
            </a:r>
            <a:r>
              <a:rPr lang="en-US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값을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비교하고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조건이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만족되면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PC +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imm으로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분기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조건이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만족되지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않으면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다음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명령어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(PC + 4)를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실행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11" name="직사각형 10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13" y="183151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B Type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3" y="6494680"/>
            <a:ext cx="11889104" cy="363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 =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funct3/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 = 0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403917" y="3883203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697008" y="2524728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614393" y="3371644"/>
            <a:ext cx="322116" cy="249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936868" y="4034544"/>
            <a:ext cx="306914" cy="251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25141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B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5" name="직사각형 14"/>
          <p:cNvSpPr/>
          <p:nvPr/>
        </p:nvSpPr>
        <p:spPr>
          <a:xfrm>
            <a:off x="2380408" y="128588"/>
            <a:ext cx="5783877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4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Simulation Check</a:t>
            </a:r>
          </a:p>
          <a:p>
            <a:pPr lvl="0" algn="l">
              <a:defRPr/>
            </a:pP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비교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결과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확인</a:t>
            </a:r>
            <a:r>
              <a:rPr lang="en-US" sz="1600" dirty="0" smtClean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 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btaken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활성화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 </a:t>
            </a:r>
            <a:r>
              <a:rPr sz="16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확인</a:t>
            </a:r>
            <a:r>
              <a:rPr lang="en-US" sz="1600" dirty="0" smtClean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  </a:t>
            </a:r>
            <a:r>
              <a:rPr sz="1600" b="0" i="0" strike="noStrike" dirty="0" smtClean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PC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갱신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경로</a:t>
            </a:r>
            <a:r>
              <a:rPr sz="1600" b="0" i="0" strike="noStrike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 </a:t>
            </a:r>
            <a:r>
              <a:rPr sz="1600" b="0" i="0" strike="noStrike" dirty="0" err="1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확인</a:t>
            </a:r>
            <a:endParaRPr sz="1600" b="0" i="0" strike="noStrike" dirty="0">
              <a:solidFill>
                <a:srgbClr val="000000">
                  <a:alpha val="100000"/>
                </a:srgbClr>
              </a:solidFill>
              <a:latin typeface="+mj-ea"/>
              <a:ea typeface="+mj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91175"/>
              </p:ext>
            </p:extLst>
          </p:nvPr>
        </p:nvGraphicFramePr>
        <p:xfrm>
          <a:off x="2191087" y="928397"/>
          <a:ext cx="9640128" cy="5612360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962660">
                  <a:extLst>
                    <a:ext uri="{9D8B030D-6E8A-4147-A177-3AD203B41FA5}">
                      <a16:colId xmlns:a16="http://schemas.microsoft.com/office/drawing/2014/main" val="2955445295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501922872"/>
                    </a:ext>
                  </a:extLst>
                </a:gridCol>
                <a:gridCol w="3785493">
                  <a:extLst>
                    <a:ext uri="{9D8B030D-6E8A-4147-A177-3AD203B41FA5}">
                      <a16:colId xmlns:a16="http://schemas.microsoft.com/office/drawing/2014/main" val="2671114516"/>
                    </a:ext>
                  </a:extLst>
                </a:gridCol>
                <a:gridCol w="2410032">
                  <a:extLst>
                    <a:ext uri="{9D8B030D-6E8A-4147-A177-3AD203B41FA5}">
                      <a16:colId xmlns:a16="http://schemas.microsoft.com/office/drawing/2014/main" val="18992071"/>
                    </a:ext>
                  </a:extLst>
                </a:gridCol>
              </a:tblGrid>
              <a:tr h="31915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</a:rPr>
                        <a:t>Branch Condition</a:t>
                      </a:r>
                      <a:endParaRPr lang="en-US" sz="1800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Expected PC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3912909581"/>
                  </a:ext>
                </a:extLst>
              </a:tr>
              <a:tr h="5993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BEQ x1, x3,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>
                          <a:solidFill>
                            <a:schemeClr val="tx1"/>
                          </a:solidFill>
                          <a:effectLst/>
                        </a:rPr>
                        <a:t>x1 == x3 → 1 == 3 → false</a:t>
                      </a:r>
                      <a:endParaRPr lang="da-DK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+ 4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1844211648"/>
                  </a:ext>
                </a:extLst>
              </a:tr>
              <a:tr h="4592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BEQ x1, x1,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x1 == x1 → 1 == 1 → true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1946964734"/>
                  </a:ext>
                </a:extLst>
              </a:tr>
              <a:tr h="4592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BNE x1, x2,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x1 != x2 → 1 != 2 → true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4146206766"/>
                  </a:ext>
                </a:extLst>
              </a:tr>
              <a:tr h="4592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BNE x1, x3,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x1 != x3 → 1 != 3 → true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1384240808"/>
                  </a:ext>
                </a:extLst>
              </a:tr>
              <a:tr h="4592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BLT x1, x3,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x1 &lt; x3 → 1 &lt; 3 → true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1819079371"/>
                  </a:ext>
                </a:extLst>
              </a:tr>
              <a:tr h="4592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BGE x3, x1,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x3 &gt;= x1 → 3 &gt;= 1 → true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580950798"/>
                  </a:ext>
                </a:extLst>
              </a:tr>
              <a:tr h="5993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BLTU x1, x16,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x1 &lt; x16 → 1 &lt; 16 → true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3519050201"/>
                  </a:ext>
                </a:extLst>
              </a:tr>
              <a:tr h="5993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BLTU x16, x1,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>
                          <a:solidFill>
                            <a:schemeClr val="tx1"/>
                          </a:solidFill>
                          <a:effectLst/>
                        </a:rPr>
                        <a:t>x16 &lt; x1 → 16 &lt; 1 → false</a:t>
                      </a:r>
                      <a:endParaRPr lang="da-DK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+ 4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3724549509"/>
                  </a:ext>
                </a:extLst>
              </a:tr>
              <a:tr h="5993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BGEU x16, x1,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x16 &gt;= x1 → 16 &gt;= 1 → true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PC + 8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3428797818"/>
                  </a:ext>
                </a:extLst>
              </a:tr>
              <a:tr h="5993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altLang="ko-KR" sz="1800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BGEU x1, x16, +8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>
                          <a:solidFill>
                            <a:schemeClr val="tx1"/>
                          </a:solidFill>
                          <a:effectLst/>
                        </a:rPr>
                        <a:t>x1 &gt;= x16 → 1 &gt;= 16 → false</a:t>
                      </a:r>
                      <a:endParaRPr lang="da-DK" sz="180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PC + 4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5693" marR="15693" marT="15693" marB="15693" anchor="ctr"/>
                </a:tc>
                <a:extLst>
                  <a:ext uri="{0D108BD9-81ED-4DB2-BD59-A6C34878D82A}">
                    <a16:rowId xmlns:a16="http://schemas.microsoft.com/office/drawing/2014/main" val="3882479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2706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B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1" name="직사각형 10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960" y="1217187"/>
            <a:ext cx="7559891" cy="5029416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505574" y="5644236"/>
            <a:ext cx="1546744" cy="516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123020" y="5458027"/>
            <a:ext cx="410547" cy="830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447453" y="6105029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True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299218" y="6061937"/>
            <a:ext cx="73102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False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048000" y="5019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/>
              <a:t>register_file</a:t>
            </a:r>
            <a:r>
              <a:rPr lang="ko-KR" altLang="en-US" dirty="0"/>
              <a:t>[1] = 2;</a:t>
            </a:r>
          </a:p>
          <a:p>
            <a:r>
              <a:rPr lang="ko-KR" altLang="en-US" dirty="0" err="1" smtClean="0"/>
              <a:t>register_file</a:t>
            </a:r>
            <a:r>
              <a:rPr lang="ko-KR" altLang="en-US" dirty="0" smtClean="0"/>
              <a:t>[16</a:t>
            </a:r>
            <a:r>
              <a:rPr lang="ko-KR" altLang="en-US" dirty="0"/>
              <a:t>] = 32'hA1B2C3D4;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973216" y="1822486"/>
            <a:ext cx="4460033" cy="267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598104" y="1771606"/>
            <a:ext cx="1001472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mtClean="0"/>
              <a:t>PC </a:t>
            </a:r>
            <a:r>
              <a:rPr lang="ko-KR" altLang="en-US" dirty="0" smtClean="0"/>
              <a:t>상승</a:t>
            </a:r>
            <a:endParaRPr lang="ko-KR" altLang="en-US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6500909" y="1533684"/>
            <a:ext cx="4665" cy="4110552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93092" y="881673"/>
            <a:ext cx="1366867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posedge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71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B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1" name="직사각형 10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10" y="1756673"/>
            <a:ext cx="9088118" cy="4296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4017" y="1753164"/>
            <a:ext cx="64929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False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98980" y="1757349"/>
            <a:ext cx="62453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True</a:t>
            </a:r>
            <a:endParaRPr lang="ko-KR" altLang="en-US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8894916" y="2100174"/>
            <a:ext cx="9330" cy="3609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6049346" y="2229859"/>
            <a:ext cx="9330" cy="3609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6526528" y="2229858"/>
            <a:ext cx="9330" cy="3609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472131" y="2122496"/>
            <a:ext cx="9330" cy="3609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7949313" y="2117891"/>
            <a:ext cx="9330" cy="360937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09828" y="1733326"/>
            <a:ext cx="62453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True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579597" y="1743758"/>
            <a:ext cx="64929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False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1797125" y="4384603"/>
            <a:ext cx="7197585" cy="3273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612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50000"/>
          <a:stretch>
            <a:fillRect/>
          </a:stretch>
        </p:blipFill>
        <p:spPr>
          <a:xfrm>
            <a:off x="347884" y="4912767"/>
            <a:ext cx="11641176" cy="268589"/>
          </a:xfrm>
          <a:prstGeom prst="rect">
            <a:avLst/>
          </a:prstGeom>
        </p:spPr>
      </p:pic>
      <p:sp>
        <p:nvSpPr>
          <p:cNvPr id="5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U Type &amp; UL Type</a:t>
            </a:r>
          </a:p>
        </p:txBody>
      </p:sp>
      <p:sp>
        <p:nvSpPr>
          <p:cNvPr id="7" name="직사각형 6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8" name="TextBox 6"/>
          <p:cNvSpPr txBox="1"/>
          <p:nvPr/>
        </p:nvSpPr>
        <p:spPr>
          <a:xfrm>
            <a:off x="2533777" y="4436546"/>
            <a:ext cx="8947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imm[31:12]         		    	   rd     	     </a:t>
            </a:r>
            <a:r>
              <a:rPr lang="ko-KR" altLang="en-US"/>
              <a:t> </a:t>
            </a:r>
            <a:r>
              <a:rPr lang="en-US" altLang="ko-KR"/>
              <a:t>     opcode            operation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102887" y="1998810"/>
            <a:ext cx="7326003" cy="146263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U-Type과 UL-Type은상위 immediate를 활용하는 명령어 타입</a:t>
            </a: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U-Type(AUIPC)은 PC + imm결과를 rd에 저장</a:t>
            </a: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UL-Type(LUI) 는 immediate의 상위 20비트를 rd에 적재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b="50000"/>
          <a:stretch>
            <a:fillRect/>
          </a:stretch>
        </p:blipFill>
        <p:spPr>
          <a:xfrm>
            <a:off x="351322" y="5177819"/>
            <a:ext cx="11641176" cy="28929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25659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13" y="183151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U Type &amp; UL Type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2" y="6494680"/>
            <a:ext cx="1211463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</a:t>
            </a:r>
            <a:r>
              <a:rPr lang="en-US" altLang="ko-KR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</a:t>
            </a:r>
            <a:r>
              <a:rPr sz="18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=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funct3/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(U = 3, UL = 2)</a:t>
            </a:r>
            <a:r>
              <a:rPr lang="en-US" altLang="ko-KR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</a:t>
            </a:r>
            <a:r>
              <a:rPr sz="18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= 0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</a:t>
            </a:r>
            <a:r>
              <a:rPr 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</a:t>
            </a:r>
            <a:r>
              <a:rPr lang="en-US" altLang="ko-KR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0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0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682191" y="2836360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605157" y="3731861"/>
            <a:ext cx="389756" cy="396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411521" y="4128654"/>
            <a:ext cx="389756" cy="396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925657" y="4006457"/>
            <a:ext cx="340686" cy="244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59712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U Type &amp; UL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442288" y="1733414"/>
          <a:ext cx="7307424" cy="4250495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1027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11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Formula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Expected Result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11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LUI x5, 0x12345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0x12345 == x5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0x12345000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11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LUI x6, 0xABCDE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0xABCDE == x6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0xABCDE000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57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1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AUIPC x7, 0x00010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X7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  <a:effectLst/>
                        </a:rPr>
                        <a:t> = PC + 0x0010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PC + 0x00010000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0578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1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altLang="ko-KR" b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AUIPC x8, 0x00001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X8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  <a:effectLst/>
                        </a:rPr>
                        <a:t> = PC + 0x0001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PC + 0x00001000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56453" y="19619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178490" y="382555"/>
            <a:ext cx="6387737" cy="872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40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Simulation Check</a:t>
            </a:r>
          </a:p>
          <a:p>
            <a:pPr lvl="0" algn="l">
              <a:defRPr/>
            </a:pPr>
            <a:r>
              <a:rPr sz="140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immediate 생성 확인</a:t>
            </a:r>
            <a:r>
              <a:rPr lang="en-US" sz="140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  </a:t>
            </a:r>
            <a:r>
              <a:rPr sz="140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AUIPC의PC + imm확인</a:t>
            </a:r>
            <a:r>
              <a:rPr lang="en-US" sz="140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  </a:t>
            </a:r>
            <a:endParaRPr sz="1400" i="0" strike="noStrike">
              <a:solidFill>
                <a:srgbClr val="000000">
                  <a:alpha val="100000"/>
                </a:srgbClr>
              </a:solidFill>
              <a:latin typeface="+mj-ea"/>
              <a:ea typeface="+mj-ea"/>
            </a:endParaRPr>
          </a:p>
          <a:p>
            <a:pPr lvl="0" algn="l">
              <a:defRPr/>
            </a:pPr>
            <a:r>
              <a:rPr sz="140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LUI의 상위 비트 적재 확인</a:t>
            </a:r>
            <a:r>
              <a:rPr lang="en-US" sz="140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,  </a:t>
            </a:r>
            <a:r>
              <a:rPr sz="1400" i="0" strike="noStrike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</a:rPr>
              <a:t>rdwrite back 확인</a:t>
            </a:r>
          </a:p>
        </p:txBody>
      </p:sp>
    </p:spTree>
    <p:extLst>
      <p:ext uri="{BB962C8B-B14F-4D97-AF65-F5344CB8AC3E}">
        <p14:creationId xmlns:p14="http://schemas.microsoft.com/office/powerpoint/2010/main" val="2900316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394" y="1401263"/>
            <a:ext cx="6644447" cy="4909359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U Type &amp; UL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0" name="직사각형 9"/>
          <p:cNvSpPr/>
          <p:nvPr/>
        </p:nvSpPr>
        <p:spPr>
          <a:xfrm>
            <a:off x="5178490" y="3005846"/>
            <a:ext cx="2659224" cy="334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926967" y="3013882"/>
            <a:ext cx="918454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 smtClean="0"/>
              <a:t>Rd_we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4894518" y="6065564"/>
            <a:ext cx="3138735" cy="237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033253" y="5999406"/>
            <a:ext cx="107342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 smtClean="0"/>
              <a:t>Imm</a:t>
            </a:r>
            <a:r>
              <a:rPr lang="en-US" altLang="ko-KR" dirty="0" smtClean="0"/>
              <a:t> data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765086" y="1884784"/>
            <a:ext cx="1343216" cy="2892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0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U Type &amp; UL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33" y="4322253"/>
            <a:ext cx="9465004" cy="195054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l="1924" t="69680"/>
          <a:stretch/>
        </p:blipFill>
        <p:spPr>
          <a:xfrm>
            <a:off x="1987419" y="1409614"/>
            <a:ext cx="9465004" cy="2743222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4878085" y="5946918"/>
            <a:ext cx="3138735" cy="237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792547" y="2940546"/>
            <a:ext cx="1508449" cy="539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016821" y="6001986"/>
            <a:ext cx="1985596" cy="237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822024" y="3535386"/>
            <a:ext cx="1508449" cy="539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아래로 구부러진 화살표 2"/>
          <p:cNvSpPr/>
          <p:nvPr/>
        </p:nvSpPr>
        <p:spPr>
          <a:xfrm rot="19019679">
            <a:off x="4857390" y="2974477"/>
            <a:ext cx="4061186" cy="1539280"/>
          </a:xfrm>
          <a:prstGeom prst="curved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아래로 구부러진 화살표 14"/>
          <p:cNvSpPr/>
          <p:nvPr/>
        </p:nvSpPr>
        <p:spPr>
          <a:xfrm rot="18511844">
            <a:off x="7437617" y="4050867"/>
            <a:ext cx="2709858" cy="962524"/>
          </a:xfrm>
          <a:prstGeom prst="curved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99111" y="4384698"/>
            <a:ext cx="918454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Pc</a:t>
            </a:r>
            <a:r>
              <a:rPr lang="ko-KR" altLang="en-US" dirty="0" smtClean="0"/>
              <a:t>값 </a:t>
            </a:r>
            <a:r>
              <a:rPr lang="en-US" altLang="ko-KR" dirty="0" smtClean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42538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J Type &amp; JL Type</a:t>
            </a:r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5411" y="5987599"/>
            <a:ext cx="11641176" cy="2000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4939" y="5001734"/>
            <a:ext cx="11622121" cy="20957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450920" y="1747202"/>
            <a:ext cx="5021894" cy="20070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J-Type (JAL)</a:t>
            </a:r>
          </a:p>
          <a:p>
            <a:pPr lvl="0" algn="l"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Immediate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Generator가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jump offset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생성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다음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PC를PC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+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imm으로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갱신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기존PC</a:t>
            </a:r>
            <a:r>
              <a:rPr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+ 4를rd에 </a:t>
            </a:r>
            <a:r>
              <a:rPr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저장</a:t>
            </a:r>
            <a:endParaRPr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907444" y="1670957"/>
            <a:ext cx="4782932" cy="25544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JL-Type (JALR)</a:t>
            </a:r>
          </a:p>
          <a:p>
            <a:pPr lvl="0" algn="l"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Register File에서rs1읽기</a:t>
            </a: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ALU가rs1 + imm으로 jump target 계산</a:t>
            </a: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다음 PC를 target 주소로 갱신</a:t>
            </a:r>
          </a:p>
          <a:p>
            <a:pPr marL="257040" lvl="0" indent="-257040" algn="l">
              <a:buFont typeface="Arial"/>
              <a:buChar char="•"/>
              <a:defRPr/>
            </a:pPr>
            <a:endParaRPr b="0" i="0" strike="noStrike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57040" lvl="0" indent="-257040" algn="l">
              <a:buFont typeface="Arial"/>
              <a:buChar char="•"/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기존PC + 4를rd에 저장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1292638" y="5511605"/>
            <a:ext cx="960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/>
              <a:t>imm</a:t>
            </a:r>
            <a:r>
              <a:rPr lang="en-US" altLang="ko-KR" dirty="0"/>
              <a:t>[11:0]                    </a:t>
            </a:r>
            <a:r>
              <a:rPr lang="ko-KR" altLang="en-US" dirty="0"/>
              <a:t>      </a:t>
            </a:r>
            <a:r>
              <a:rPr lang="en-US" altLang="ko-KR" dirty="0"/>
              <a:t> 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 </a:t>
            </a:r>
            <a:r>
              <a:rPr lang="en-US" altLang="ko-KR" dirty="0" smtClean="0"/>
              <a:t>  </a:t>
            </a:r>
            <a:r>
              <a:rPr lang="en-US" altLang="ko-KR" dirty="0"/>
              <a:t>rs1       </a:t>
            </a:r>
            <a:r>
              <a:rPr lang="ko-KR" altLang="en-US" dirty="0"/>
              <a:t> 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 err="1"/>
              <a:t>funct</a:t>
            </a:r>
            <a:r>
              <a:rPr lang="en-US" altLang="ko-KR" dirty="0"/>
              <a:t> 3    	        </a:t>
            </a:r>
            <a:r>
              <a:rPr lang="en-US" altLang="ko-KR" dirty="0" err="1"/>
              <a:t>rd</a:t>
            </a:r>
            <a:r>
              <a:rPr lang="en-US" altLang="ko-KR" dirty="0"/>
              <a:t>	        </a:t>
            </a:r>
            <a:r>
              <a:rPr lang="ko-KR" altLang="en-US" dirty="0"/>
              <a:t> </a:t>
            </a:r>
            <a:r>
              <a:rPr lang="en-US" altLang="ko-KR" dirty="0"/>
              <a:t>         opcode               operation</a:t>
            </a:r>
          </a:p>
        </p:txBody>
      </p:sp>
      <p:sp>
        <p:nvSpPr>
          <p:cNvPr id="10" name="TextBox 6"/>
          <p:cNvSpPr txBox="1"/>
          <p:nvPr/>
        </p:nvSpPr>
        <p:spPr>
          <a:xfrm>
            <a:off x="1374711" y="4530532"/>
            <a:ext cx="9808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/>
              <a:t>imm</a:t>
            </a:r>
            <a:r>
              <a:rPr lang="en-US" altLang="ko-KR" dirty="0"/>
              <a:t>[20, 10:1, 11, 19:12] </a:t>
            </a:r>
            <a:r>
              <a:rPr lang="en-US" altLang="ko-KR" dirty="0" smtClean="0"/>
              <a:t>                   </a:t>
            </a:r>
            <a:r>
              <a:rPr lang="ko-KR" altLang="en-US" dirty="0" smtClean="0"/>
              <a:t>      </a:t>
            </a:r>
            <a:r>
              <a:rPr lang="en-US" altLang="ko-KR" dirty="0" smtClean="0"/>
              <a:t>      </a:t>
            </a:r>
            <a:r>
              <a:rPr lang="ko-KR" altLang="en-US" dirty="0" smtClean="0"/>
              <a:t> </a:t>
            </a:r>
            <a:r>
              <a:rPr lang="en-US" altLang="ko-KR" dirty="0" smtClean="0"/>
              <a:t>      </a:t>
            </a:r>
            <a:r>
              <a:rPr lang="en-US" altLang="ko-KR" dirty="0"/>
              <a:t>	  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rd</a:t>
            </a:r>
            <a:r>
              <a:rPr lang="en-US" altLang="ko-KR" dirty="0"/>
              <a:t>	      </a:t>
            </a:r>
            <a:r>
              <a:rPr lang="en-US" altLang="ko-KR" dirty="0" smtClean="0"/>
              <a:t>  </a:t>
            </a:r>
            <a:r>
              <a:rPr lang="ko-KR" altLang="en-US" dirty="0" smtClean="0"/>
              <a:t> </a:t>
            </a:r>
            <a:r>
              <a:rPr lang="en-US" altLang="ko-KR" dirty="0" smtClean="0"/>
              <a:t>  opcode               </a:t>
            </a:r>
            <a:r>
              <a:rPr lang="en-US" altLang="ko-KR" dirty="0"/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411" y="4530531"/>
            <a:ext cx="14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JAL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43109" y="5516529"/>
            <a:ext cx="145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JALR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14838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13" y="183151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J Type 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3" y="6494680"/>
            <a:ext cx="11889104" cy="363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 =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0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 = 0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 = 0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682191" y="2836360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416138" y="3884286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574462" y="4063335"/>
            <a:ext cx="389756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902907" y="4035627"/>
            <a:ext cx="359348" cy="2315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6366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13" y="183151"/>
            <a:ext cx="7354746" cy="5911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RV32i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JL Type </a:t>
            </a:r>
          </a:p>
        </p:txBody>
      </p:sp>
      <p:sp>
        <p:nvSpPr>
          <p:cNvPr id="10" name="직사각형 9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0" name="직사각형 19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6" name="직사각형 25"/>
          <p:cNvSpPr/>
          <p:nvPr/>
        </p:nvSpPr>
        <p:spPr>
          <a:xfrm>
            <a:off x="77363" y="6494680"/>
            <a:ext cx="1188910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</a:t>
            </a:r>
            <a:r>
              <a:rPr lang="en-US" altLang="ko-KR" sz="1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0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4 ,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0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,  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 =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0 ,   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 = </a:t>
            </a:r>
            <a:r>
              <a:rPr lang="en-US" altLang="ko-KR"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1 ,   </a:t>
            </a:r>
            <a:r>
              <a:rPr sz="1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sz="1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= </a:t>
            </a:r>
            <a:r>
              <a:rPr 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</a:t>
            </a:r>
            <a:endParaRPr lang="en-US" altLang="ko-KR" sz="1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682191" y="523875"/>
            <a:ext cx="1358902" cy="355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697008" y="1237191"/>
            <a:ext cx="1401235" cy="30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706244" y="2760210"/>
            <a:ext cx="389756" cy="396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651337" y="4073607"/>
            <a:ext cx="389756" cy="350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411646" y="3833933"/>
            <a:ext cx="389756" cy="396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916647" y="3819528"/>
            <a:ext cx="308662" cy="2540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035365" y="370530"/>
            <a:ext cx="293933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alusrcsel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의 두 번째 입력을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rs2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받을지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 </a:t>
            </a: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imm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받을지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alucontrol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ALU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연산 종류를 지정하는 </a:t>
            </a:r>
            <a:r>
              <a:rPr lang="ko-KR" altLang="en-US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제어값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rfwd_src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레지스터 파일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write-back MUX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선택 신호</a:t>
            </a:r>
          </a:p>
          <a:p>
            <a:pPr>
              <a:defRPr/>
            </a:pP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dWe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데이터 메모리 쓰기 </a:t>
            </a:r>
            <a:r>
              <a:rPr lang="en-US" altLang="ko-KR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enable</a:t>
            </a:r>
          </a:p>
          <a:p>
            <a:pPr lvl="0"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branch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명령인지 표시하는 제어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en-US" altLang="ko-KR" dirty="0" smtClean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endParaRPr lang="en-US" altLang="ko-KR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 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계열 점프 제어 신호</a:t>
            </a:r>
          </a:p>
          <a:p>
            <a:pPr>
              <a:defRPr/>
            </a:pP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en-US" altLang="ko-KR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: JALR</a:t>
            </a:r>
            <a:r>
              <a:rPr lang="ko-KR" altLang="en-US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용 점프 기준 주소 선택 </a:t>
            </a:r>
            <a:r>
              <a:rPr lang="ko-KR" altLang="en-US" dirty="0" smtClean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신호</a:t>
            </a:r>
            <a:endParaRPr lang="ko-KR" altLang="en-US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261209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dirty="0"/>
              <a:t>J Type &amp; JL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8" name="직사각형 17"/>
          <p:cNvSpPr/>
          <p:nvPr/>
        </p:nvSpPr>
        <p:spPr>
          <a:xfrm>
            <a:off x="4831846" y="382554"/>
            <a:ext cx="5170569" cy="9966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400"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Simulation Check</a:t>
            </a:r>
          </a:p>
          <a:p>
            <a:pPr lvl="0" algn="l"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jump target 계산 확인</a:t>
            </a: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</a:rPr>
              <a:t>,  </a:t>
            </a: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PC 갱신 확인</a:t>
            </a: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</a:rPr>
              <a:t>,  </a:t>
            </a:r>
            <a:endParaRPr b="0" i="0" strike="noStrike">
              <a:solidFill>
                <a:srgbClr val="000000">
                  <a:alpha val="100000"/>
                </a:srgbClr>
              </a:solidFill>
              <a:latin typeface="+mn-ea"/>
            </a:endParaRPr>
          </a:p>
          <a:p>
            <a:pPr lvl="0" algn="l">
              <a:defRPr/>
            </a:pP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rd = PC + 4저장 확인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2203"/>
              </p:ext>
            </p:extLst>
          </p:nvPr>
        </p:nvGraphicFramePr>
        <p:xfrm>
          <a:off x="1815826" y="2885951"/>
          <a:ext cx="8560347" cy="2273877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1082178">
                  <a:extLst>
                    <a:ext uri="{9D8B030D-6E8A-4147-A177-3AD203B41FA5}">
                      <a16:colId xmlns:a16="http://schemas.microsoft.com/office/drawing/2014/main" val="3816023671"/>
                    </a:ext>
                  </a:extLst>
                </a:gridCol>
                <a:gridCol w="1683459">
                  <a:extLst>
                    <a:ext uri="{9D8B030D-6E8A-4147-A177-3AD203B41FA5}">
                      <a16:colId xmlns:a16="http://schemas.microsoft.com/office/drawing/2014/main" val="2526845233"/>
                    </a:ext>
                  </a:extLst>
                </a:gridCol>
                <a:gridCol w="3247453">
                  <a:extLst>
                    <a:ext uri="{9D8B030D-6E8A-4147-A177-3AD203B41FA5}">
                      <a16:colId xmlns:a16="http://schemas.microsoft.com/office/drawing/2014/main" val="2001802587"/>
                    </a:ext>
                  </a:extLst>
                </a:gridCol>
                <a:gridCol w="2547257">
                  <a:extLst>
                    <a:ext uri="{9D8B030D-6E8A-4147-A177-3AD203B41FA5}">
                      <a16:colId xmlns:a16="http://schemas.microsoft.com/office/drawing/2014/main" val="2444621243"/>
                    </a:ext>
                  </a:extLst>
                </a:gridCol>
              </a:tblGrid>
              <a:tr h="49808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Instruction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Formula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Expected Result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76034228"/>
                  </a:ext>
                </a:extLst>
              </a:tr>
              <a:tr h="887895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JAL x5, +8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x5 = PC + 4, PC = PC + 8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x5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return address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는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 + 8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132729405"/>
                  </a:ext>
                </a:extLst>
              </a:tr>
              <a:tr h="887895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JALR x6, x1, 4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x6 = PC + 4, PC = x1 + 4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x6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return address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는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x1 + 4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00254407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2053789" y="2420237"/>
            <a:ext cx="1528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Segoe WPC"/>
              </a:rPr>
              <a:t>Repeat Case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14683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J Type &amp; JL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6" y="1387596"/>
            <a:ext cx="7870898" cy="505462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850566" y="1944253"/>
            <a:ext cx="1989652" cy="203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66807" y="1474820"/>
            <a:ext cx="1248597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Pc</a:t>
            </a:r>
            <a:r>
              <a:rPr lang="ko-KR" altLang="en-US" dirty="0"/>
              <a:t> </a:t>
            </a:r>
            <a:r>
              <a:rPr lang="en-US" altLang="ko-KR" dirty="0" smtClean="0"/>
              <a:t>= PC + 8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840218" y="5980343"/>
            <a:ext cx="1989652" cy="203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070786" y="5524020"/>
            <a:ext cx="152851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x5</a:t>
            </a:r>
            <a:r>
              <a:rPr lang="ko-KR" altLang="en-US" dirty="0" smtClean="0"/>
              <a:t> </a:t>
            </a:r>
            <a:r>
              <a:rPr lang="en-US" altLang="ko-KR" dirty="0" smtClean="0"/>
              <a:t>= PC(0) + 4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070786" y="6179844"/>
            <a:ext cx="1401410" cy="257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148541" y="6444758"/>
            <a:ext cx="152851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x6</a:t>
            </a:r>
            <a:r>
              <a:rPr lang="ko-KR" altLang="en-US" dirty="0" smtClean="0"/>
              <a:t> </a:t>
            </a:r>
            <a:r>
              <a:rPr lang="en-US" altLang="ko-KR" dirty="0" smtClean="0"/>
              <a:t>= PC(8) + 4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615404" y="1965040"/>
            <a:ext cx="1045029" cy="208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803721" y="1508717"/>
            <a:ext cx="142322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Pc</a:t>
            </a:r>
            <a:r>
              <a:rPr lang="ko-KR" altLang="en-US" dirty="0"/>
              <a:t> </a:t>
            </a:r>
            <a:r>
              <a:rPr lang="en-US" altLang="ko-KR" dirty="0" smtClean="0"/>
              <a:t>= x1(1) + 4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8226949" y="1939173"/>
            <a:ext cx="1045029" cy="208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293329" y="1508717"/>
            <a:ext cx="1488935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Pc</a:t>
            </a:r>
            <a:r>
              <a:rPr lang="ko-KR" altLang="en-US" dirty="0"/>
              <a:t> </a:t>
            </a:r>
            <a:r>
              <a:rPr lang="en-US" altLang="ko-KR" dirty="0" smtClean="0"/>
              <a:t>= x1(1) + 4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8965086" y="6110358"/>
            <a:ext cx="1401410" cy="257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981096" y="6437138"/>
            <a:ext cx="152851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x6</a:t>
            </a:r>
            <a:r>
              <a:rPr lang="ko-KR" altLang="en-US" dirty="0" smtClean="0"/>
              <a:t> </a:t>
            </a:r>
            <a:r>
              <a:rPr lang="en-US" altLang="ko-KR" dirty="0" smtClean="0"/>
              <a:t>= PC(9) + 4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11623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dirty="0"/>
              <a:t>J Type &amp; JL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339535"/>
              </p:ext>
            </p:extLst>
          </p:nvPr>
        </p:nvGraphicFramePr>
        <p:xfrm>
          <a:off x="1645297" y="2575248"/>
          <a:ext cx="8901406" cy="3220275"/>
        </p:xfrm>
        <a:graphic>
          <a:graphicData uri="http://schemas.openxmlformats.org/drawingml/2006/table">
            <a:tbl>
              <a:tblPr>
                <a:tableStyleId>{2B97EFD9-3E4E-4774-82E3-5CA0719C0AE7}</a:tableStyleId>
              </a:tblPr>
              <a:tblGrid>
                <a:gridCol w="825577">
                  <a:extLst>
                    <a:ext uri="{9D8B030D-6E8A-4147-A177-3AD203B41FA5}">
                      <a16:colId xmlns:a16="http://schemas.microsoft.com/office/drawing/2014/main" val="3336333250"/>
                    </a:ext>
                  </a:extLst>
                </a:gridCol>
                <a:gridCol w="2011020">
                  <a:extLst>
                    <a:ext uri="{9D8B030D-6E8A-4147-A177-3AD203B41FA5}">
                      <a16:colId xmlns:a16="http://schemas.microsoft.com/office/drawing/2014/main" val="993279147"/>
                    </a:ext>
                  </a:extLst>
                </a:gridCol>
                <a:gridCol w="2777322">
                  <a:extLst>
                    <a:ext uri="{9D8B030D-6E8A-4147-A177-3AD203B41FA5}">
                      <a16:colId xmlns:a16="http://schemas.microsoft.com/office/drawing/2014/main" val="3584232892"/>
                    </a:ext>
                  </a:extLst>
                </a:gridCol>
                <a:gridCol w="3287487">
                  <a:extLst>
                    <a:ext uri="{9D8B030D-6E8A-4147-A177-3AD203B41FA5}">
                      <a16:colId xmlns:a16="http://schemas.microsoft.com/office/drawing/2014/main" val="2454570057"/>
                    </a:ext>
                  </a:extLst>
                </a:gridCol>
              </a:tblGrid>
              <a:tr h="46326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Instruction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Formula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Expected Result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203852249"/>
                  </a:ext>
                </a:extLst>
              </a:tr>
              <a:tr h="1073425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JAL x5, +8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x5 = PC + 4, PC = PC + 8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x5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에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return address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저장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다음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PC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는 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PC + 8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695363488"/>
                  </a:ext>
                </a:extLst>
              </a:tr>
              <a:tr h="1683583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JALR x6, x6, 4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x6 = PC + 4, PC = old(x6) + 4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PC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는 기존 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x6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 값 기준으로 점프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이후 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x6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에는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return address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저장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856139135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4831846" y="382554"/>
            <a:ext cx="5170569" cy="9966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2400"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Simulation Check</a:t>
            </a:r>
          </a:p>
          <a:p>
            <a:pPr lvl="0" algn="l">
              <a:defRPr/>
            </a:pPr>
            <a:r>
              <a:rPr lang="en-US" altLang="ko-KR"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jump target 계산 확인</a:t>
            </a: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</a:rPr>
              <a:t>,  </a:t>
            </a: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PC 갱신 확인</a:t>
            </a: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</a:rPr>
              <a:t>, </a:t>
            </a:r>
          </a:p>
          <a:p>
            <a:pPr lvl="0" algn="l">
              <a:defRPr/>
            </a:pPr>
            <a:r>
              <a:rPr lang="en-US">
                <a:solidFill>
                  <a:srgbClr val="000000">
                    <a:alpha val="100000"/>
                  </a:srgbClr>
                </a:solidFill>
                <a:latin typeface="+mn-ea"/>
              </a:rPr>
              <a:t> </a:t>
            </a:r>
            <a:r>
              <a:rPr b="0" i="0" strike="noStrike">
                <a:solidFill>
                  <a:srgbClr val="000000">
                    <a:alpha val="100000"/>
                  </a:srgbClr>
                </a:solidFill>
                <a:latin typeface="+mn-ea"/>
              </a:rPr>
              <a:t>rd = PC + 4저장 확인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812250" y="2098790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Segoe WPC"/>
              </a:rPr>
              <a:t>Escape Case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1926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J Type &amp; JL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Simulate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6" name="직사각형 1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233" y="1401263"/>
            <a:ext cx="7539533" cy="504095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850566" y="1944253"/>
            <a:ext cx="1989652" cy="203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236178" y="1462118"/>
            <a:ext cx="1248597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Pc</a:t>
            </a:r>
            <a:r>
              <a:rPr lang="ko-KR" altLang="en-US" dirty="0"/>
              <a:t> </a:t>
            </a:r>
            <a:r>
              <a:rPr lang="en-US" altLang="ko-KR" dirty="0" smtClean="0"/>
              <a:t>= PC + 8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803721" y="1508717"/>
            <a:ext cx="142322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Pc</a:t>
            </a:r>
            <a:r>
              <a:rPr lang="ko-KR" altLang="en-US" dirty="0"/>
              <a:t> </a:t>
            </a:r>
            <a:r>
              <a:rPr lang="en-US" altLang="ko-KR" dirty="0" smtClean="0"/>
              <a:t>= x6(6) + 4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606074" y="1938749"/>
            <a:ext cx="1746918" cy="2566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840218" y="5980343"/>
            <a:ext cx="1989652" cy="203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070786" y="5524020"/>
            <a:ext cx="152851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x5</a:t>
            </a:r>
            <a:r>
              <a:rPr lang="ko-KR" altLang="en-US" dirty="0" smtClean="0"/>
              <a:t> </a:t>
            </a:r>
            <a:r>
              <a:rPr lang="en-US" altLang="ko-KR" dirty="0" smtClean="0"/>
              <a:t>= PC(0) + 4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7070786" y="6179844"/>
            <a:ext cx="757598" cy="257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148541" y="6444758"/>
            <a:ext cx="1528516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x6</a:t>
            </a:r>
            <a:r>
              <a:rPr lang="ko-KR" altLang="en-US" dirty="0" smtClean="0"/>
              <a:t> </a:t>
            </a:r>
            <a:r>
              <a:rPr lang="en-US" altLang="ko-KR" dirty="0" smtClean="0"/>
              <a:t>= PC(8) + 4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8918433" y="6157011"/>
            <a:ext cx="900680" cy="257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981096" y="6437138"/>
            <a:ext cx="1655802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x6</a:t>
            </a:r>
            <a:r>
              <a:rPr lang="ko-KR" altLang="en-US" dirty="0" smtClean="0"/>
              <a:t> </a:t>
            </a:r>
            <a:r>
              <a:rPr lang="en-US" altLang="ko-KR" dirty="0" smtClean="0"/>
              <a:t>= PC(10) + 4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430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C-Code Simulate</a:t>
            </a:r>
            <a:endParaRPr lang="ko-KR" altLang="en-US" sz="4400"/>
          </a:p>
        </p:txBody>
      </p:sp>
      <p:sp>
        <p:nvSpPr>
          <p:cNvPr id="3" name="TextBox 2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Adder </a:t>
            </a:r>
            <a:endParaRPr lang="ko-KR" altLang="en-US" sz="2400"/>
          </a:p>
        </p:txBody>
      </p:sp>
      <p:sp>
        <p:nvSpPr>
          <p:cNvPr id="8" name="직사각형 7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4" name="오른쪽 화살표 3"/>
          <p:cNvSpPr/>
          <p:nvPr/>
        </p:nvSpPr>
        <p:spPr>
          <a:xfrm>
            <a:off x="3284374" y="3718168"/>
            <a:ext cx="1716833" cy="66247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r>
              <a:rPr lang="en-US" altLang="ko-KR" dirty="0" smtClean="0"/>
              <a:t>ompile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383764" y="3293707"/>
            <a:ext cx="1940767" cy="16048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 err="1" smtClean="0"/>
              <a:t>Risc</a:t>
            </a:r>
            <a:r>
              <a:rPr lang="en-US" altLang="ko-KR" sz="2000" dirty="0" smtClean="0"/>
              <a:t>-V assembly</a:t>
            </a:r>
            <a:endParaRPr lang="ko-KR" altLang="en-US" sz="2000" dirty="0"/>
          </a:p>
        </p:txBody>
      </p:sp>
      <p:sp>
        <p:nvSpPr>
          <p:cNvPr id="9" name="오른쪽 화살표 8"/>
          <p:cNvSpPr/>
          <p:nvPr/>
        </p:nvSpPr>
        <p:spPr>
          <a:xfrm>
            <a:off x="7707088" y="3718168"/>
            <a:ext cx="1716833" cy="66247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Hex Code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9616752" y="3246972"/>
            <a:ext cx="1940767" cy="16048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/>
              <a:t>Rom Data</a:t>
            </a:r>
            <a:endParaRPr lang="ko-KR" altLang="en-US" sz="2000" dirty="0"/>
          </a:p>
        </p:txBody>
      </p:sp>
      <p:sp>
        <p:nvSpPr>
          <p:cNvPr id="11" name="직사각형 10"/>
          <p:cNvSpPr/>
          <p:nvPr/>
        </p:nvSpPr>
        <p:spPr>
          <a:xfrm>
            <a:off x="283027" y="2603677"/>
            <a:ext cx="44009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adder(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b);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sum = 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sum = adder(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, sum);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adder(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b)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C-Code Simulate</a:t>
            </a:r>
            <a:endParaRPr lang="ko-KR" altLang="en-US" sz="4400"/>
          </a:p>
        </p:txBody>
      </p:sp>
      <p:sp>
        <p:nvSpPr>
          <p:cNvPr id="3" name="TextBox 2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Adder </a:t>
            </a:r>
            <a:endParaRPr lang="ko-KR" altLang="en-US" sz="2400"/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1834424"/>
            <a:ext cx="10698068" cy="441069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C-Code Simulate</a:t>
            </a:r>
            <a:endParaRPr lang="ko-KR" altLang="en-US" sz="4400"/>
          </a:p>
        </p:txBody>
      </p:sp>
      <p:sp>
        <p:nvSpPr>
          <p:cNvPr id="3" name="TextBox 2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/>
              <a:t>- Adder </a:t>
            </a:r>
            <a:endParaRPr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05" y="1770383"/>
            <a:ext cx="10072989" cy="4841913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210068" y="6072567"/>
            <a:ext cx="5859624" cy="2889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185926" y="6108470"/>
            <a:ext cx="1692189" cy="3620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i + 1 calculation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272870" y="5812404"/>
            <a:ext cx="5859624" cy="2889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908530" y="5808830"/>
            <a:ext cx="2924547" cy="36676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temporary compare operand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366964" y="2881889"/>
            <a:ext cx="5943361" cy="2889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44440" y="2794130"/>
            <a:ext cx="158620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Return address</a:t>
            </a: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462484" y="3159438"/>
            <a:ext cx="6670009" cy="2889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514356" y="3141005"/>
            <a:ext cx="158620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Stack pointer</a:t>
            </a: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4640424" y="4547013"/>
            <a:ext cx="6492070" cy="2889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817186" y="4474512"/>
            <a:ext cx="158620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Frame pointer</a:t>
            </a:r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5417975" y="4916664"/>
            <a:ext cx="6492070" cy="2889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272870" y="5211427"/>
            <a:ext cx="6492070" cy="28897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657600" y="4854610"/>
            <a:ext cx="1295402" cy="36318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argument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0665" y="5172880"/>
            <a:ext cx="138613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argument 1</a:t>
            </a:r>
          </a:p>
        </p:txBody>
      </p:sp>
    </p:spTree>
    <p:extLst>
      <p:ext uri="{BB962C8B-B14F-4D97-AF65-F5344CB8AC3E}">
        <p14:creationId xmlns:p14="http://schemas.microsoft.com/office/powerpoint/2010/main" val="6989192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C-Code Simulate</a:t>
            </a:r>
            <a:endParaRPr lang="ko-KR" altLang="en-US" sz="4400"/>
          </a:p>
        </p:txBody>
      </p:sp>
      <p:sp>
        <p:nvSpPr>
          <p:cNvPr id="3" name="TextBox 2"/>
          <p:cNvSpPr txBox="1"/>
          <p:nvPr/>
        </p:nvSpPr>
        <p:spPr>
          <a:xfrm>
            <a:off x="457200" y="1175657"/>
            <a:ext cx="4721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Adder </a:t>
            </a:r>
            <a:endParaRPr lang="ko-KR" altLang="en-US" sz="2400"/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841" y="1428053"/>
            <a:ext cx="9920866" cy="467451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774699" y="5573860"/>
            <a:ext cx="5432990" cy="22044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2459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1" y="382555"/>
            <a:ext cx="5980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dirty="0" smtClean="0"/>
              <a:t>Trouble Shoot</a:t>
            </a:r>
            <a:endParaRPr lang="ko-KR" altLang="en-US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IL &amp; S Type</a:t>
            </a:r>
          </a:p>
        </p:txBody>
      </p:sp>
      <p:sp>
        <p:nvSpPr>
          <p:cNvPr id="4" name="직사각형 3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55170" y="2031118"/>
            <a:ext cx="4696001" cy="16791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31012" y="3995140"/>
            <a:ext cx="5484279" cy="127652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3645" y="4068918"/>
            <a:ext cx="4446385" cy="1209843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4771920" y="3130690"/>
            <a:ext cx="1747994" cy="65942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12" name="직사각형 11"/>
          <p:cNvSpPr/>
          <p:nvPr/>
        </p:nvSpPr>
        <p:spPr>
          <a:xfrm flipV="1">
            <a:off x="0" y="6442218"/>
            <a:ext cx="12192000" cy="508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99330" y="2106611"/>
            <a:ext cx="4421454" cy="148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632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S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SB SH SW Datapath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66150" y="1739719"/>
            <a:ext cx="7206237" cy="4617032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507178" y="2824492"/>
            <a:ext cx="787537" cy="269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5486460" y="2711044"/>
            <a:ext cx="158620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하위비트</a:t>
            </a:r>
          </a:p>
        </p:txBody>
      </p:sp>
    </p:spTree>
    <p:extLst>
      <p:ext uri="{BB962C8B-B14F-4D97-AF65-F5344CB8AC3E}">
        <p14:creationId xmlns:p14="http://schemas.microsoft.com/office/powerpoint/2010/main" val="9412370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LB LH Datapath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05014" y="1787708"/>
            <a:ext cx="8381971" cy="398387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3607013" y="2991965"/>
            <a:ext cx="787537" cy="269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TextBox 18"/>
          <p:cNvSpPr txBox="1"/>
          <p:nvPr/>
        </p:nvSpPr>
        <p:spPr>
          <a:xfrm>
            <a:off x="4586295" y="2878517"/>
            <a:ext cx="158620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하위비트</a:t>
            </a:r>
          </a:p>
        </p:txBody>
      </p:sp>
    </p:spTree>
    <p:extLst>
      <p:ext uri="{BB962C8B-B14F-4D97-AF65-F5344CB8AC3E}">
        <p14:creationId xmlns:p14="http://schemas.microsoft.com/office/powerpoint/2010/main" val="13977545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466531" y="382555"/>
            <a:ext cx="5980922" cy="749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/>
              <a:t>IL Type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75657"/>
            <a:ext cx="4721290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/>
              <a:t>- LBU LHU Datapath</a:t>
            </a:r>
          </a:p>
        </p:txBody>
      </p:sp>
      <p:sp>
        <p:nvSpPr>
          <p:cNvPr id="9" name="직사각형 8"/>
          <p:cNvSpPr/>
          <p:nvPr/>
        </p:nvSpPr>
        <p:spPr>
          <a:xfrm flipV="1">
            <a:off x="551455" y="1148321"/>
            <a:ext cx="823255" cy="10583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28475" y="2039335"/>
            <a:ext cx="7535048" cy="361566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3530515" y="2363943"/>
            <a:ext cx="902675" cy="269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TextBox 18"/>
          <p:cNvSpPr txBox="1"/>
          <p:nvPr/>
        </p:nvSpPr>
        <p:spPr>
          <a:xfrm>
            <a:off x="4750538" y="2260962"/>
            <a:ext cx="1148215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하위비트</a:t>
            </a:r>
          </a:p>
        </p:txBody>
      </p:sp>
    </p:spTree>
    <p:extLst>
      <p:ext uri="{BB962C8B-B14F-4D97-AF65-F5344CB8AC3E}">
        <p14:creationId xmlns:p14="http://schemas.microsoft.com/office/powerpoint/2010/main" val="2484273657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3066</Words>
  <Application>Microsoft Office PowerPoint</Application>
  <PresentationFormat>와이드스크린</PresentationFormat>
  <Paragraphs>968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2" baseType="lpstr">
      <vt:lpstr>Segoe WPC</vt:lpstr>
      <vt:lpstr>굴림</vt:lpstr>
      <vt:lpstr>맑은 고딕</vt:lpstr>
      <vt:lpstr>Arial</vt:lpstr>
      <vt:lpstr>Calibri</vt:lpstr>
      <vt:lpstr>Consolas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518</cp:revision>
  <dcterms:created xsi:type="dcterms:W3CDTF">2026-03-10T09:37:27Z</dcterms:created>
  <dcterms:modified xsi:type="dcterms:W3CDTF">2026-06-04T03:47:26Z</dcterms:modified>
  <cp:version/>
</cp:coreProperties>
</file>